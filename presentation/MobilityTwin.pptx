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300" r:id="rId3"/>
    <p:sldId id="268" r:id="rId4"/>
    <p:sldId id="297" r:id="rId5"/>
    <p:sldId id="298" r:id="rId6"/>
    <p:sldId id="296" r:id="rId7"/>
    <p:sldId id="299" r:id="rId8"/>
    <p:sldId id="301" r:id="rId9"/>
    <p:sldId id="285" r:id="rId10"/>
    <p:sldId id="284" r:id="rId11"/>
    <p:sldId id="286" r:id="rId12"/>
    <p:sldId id="280" r:id="rId13"/>
    <p:sldId id="288" r:id="rId14"/>
    <p:sldId id="289" r:id="rId15"/>
    <p:sldId id="290" r:id="rId16"/>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312312-891D-4BD3-69C3-CAE86AD7FB41}" v="2246" dt="2026-05-17T09:09:37.106"/>
    <p1510:client id="{51E229F0-B85A-AA76-F5C5-E7BC00D47279}" v="1" dt="2026-05-17T18:34:14.443"/>
    <p1510:client id="{5279F286-03B9-BDDC-325F-02C2A747A54C}" v="702" dt="2026-05-17T10:03:28.832"/>
    <p1510:client id="{6025F2BD-07A1-2D30-047B-2052B81B40CD}" v="200" dt="2026-05-17T10:09:17.951"/>
    <p1510:client id="{772A3A31-1796-74EB-D3BA-B89F3568847E}" v="31" dt="2026-05-17T15:10:16.394"/>
    <p1510:client id="{B48A9ED9-7C8A-3F4F-2E08-6471F056EB98}" v="17" dt="2026-05-17T21:48:01.0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2D847D-D924-4D6D-B7A1-3592BF3723CB}" type="datetimeFigureOut">
              <a:t>18/05/2026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43913C-D526-4953-9B7B-BE3ECD69DE48}" type="slidenum">
              <a:t>‹N°›</a:t>
            </a:fld>
            <a:endParaRPr lang="fr-FR"/>
          </a:p>
        </p:txBody>
      </p:sp>
    </p:spTree>
    <p:extLst>
      <p:ext uri="{BB962C8B-B14F-4D97-AF65-F5344CB8AC3E}">
        <p14:creationId xmlns:p14="http://schemas.microsoft.com/office/powerpoint/2010/main" val="3128669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"This project is based on the </a:t>
            </a:r>
            <a:r>
              <a:rPr lang="en-US" err="1"/>
              <a:t>MobilityTwin.Brussels</a:t>
            </a:r>
            <a:r>
              <a:rPr lang="en-US"/>
              <a:t> platform, developed by the ULB. This platform brings together data from more than ten mobility operators in Brussels public transport, micromobility, traffic in a single place, representing over 4 terabytes of data since 2023. It is this infrastructure that has enabled us to access Infrabel’s data easily.</a:t>
            </a:r>
            <a:endParaRPr lang="fr-FR"/>
          </a:p>
        </p:txBody>
      </p:sp>
      <p:sp>
        <p:nvSpPr>
          <p:cNvPr id="4" name="Espace réservé du numéro de diapositive 3"/>
          <p:cNvSpPr>
            <a:spLocks noGrp="1"/>
          </p:cNvSpPr>
          <p:nvPr>
            <p:ph type="sldNum" sz="quarter" idx="5"/>
          </p:nvPr>
        </p:nvSpPr>
        <p:spPr/>
        <p:txBody>
          <a:bodyPr/>
          <a:lstStyle/>
          <a:p>
            <a:fld id="{1043913C-D526-4953-9B7B-BE3ECD69DE48}" type="slidenum">
              <a:t>3</a:t>
            </a:fld>
            <a:endParaRPr lang="fr-FR"/>
          </a:p>
        </p:txBody>
      </p:sp>
    </p:spTree>
    <p:extLst>
      <p:ext uri="{BB962C8B-B14F-4D97-AF65-F5344CB8AC3E}">
        <p14:creationId xmlns:p14="http://schemas.microsoft.com/office/powerpoint/2010/main" val="3670474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57962-68B6-54D2-6CB9-660CAB5A8A5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98872DF-8F86-8B2F-15A0-587D00E333F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C6FCC52-8F82-2D5F-50E0-4BF2281EE2F6}"/>
              </a:ext>
            </a:extLst>
          </p:cNvPr>
          <p:cNvSpPr>
            <a:spLocks noGrp="1"/>
          </p:cNvSpPr>
          <p:nvPr>
            <p:ph type="body" idx="1"/>
          </p:nvPr>
        </p:nvSpPr>
        <p:spPr/>
        <p:txBody>
          <a:bodyPr/>
          <a:lstStyle/>
          <a:p>
            <a:r>
              <a:rPr lang="en-US">
                <a:solidFill>
                  <a:srgbClr val="222C31"/>
                </a:solidFill>
                <a:highlight>
                  <a:srgbClr val="FFFFFF"/>
                </a:highlight>
              </a:rPr>
              <a:t>Infrabel publishes punctuality reports every day. The problem is that a daily report alone does not say much. However, by aggregating 43 days of data, we can start to see significant trends: which trains are chronically behind, which stations are problematic, and whether the delays follow regular patterns.</a:t>
            </a:r>
            <a:endParaRPr lang="fr-FR">
              <a:solidFill>
                <a:srgbClr val="222C31"/>
              </a:solidFill>
              <a:highlight>
                <a:srgbClr val="FFFFFF"/>
              </a:highlight>
            </a:endParaRPr>
          </a:p>
        </p:txBody>
      </p:sp>
      <p:sp>
        <p:nvSpPr>
          <p:cNvPr id="4" name="Espace réservé du numéro de diapositive 3">
            <a:extLst>
              <a:ext uri="{FF2B5EF4-FFF2-40B4-BE49-F238E27FC236}">
                <a16:creationId xmlns:a16="http://schemas.microsoft.com/office/drawing/2014/main" id="{9E58A704-087F-4F85-E525-40591B7D15A5}"/>
              </a:ext>
            </a:extLst>
          </p:cNvPr>
          <p:cNvSpPr>
            <a:spLocks noGrp="1"/>
          </p:cNvSpPr>
          <p:nvPr>
            <p:ph type="sldNum" sz="quarter" idx="5"/>
          </p:nvPr>
        </p:nvSpPr>
        <p:spPr/>
        <p:txBody>
          <a:bodyPr/>
          <a:lstStyle/>
          <a:p>
            <a:fld id="{1043913C-D526-4953-9B7B-BE3ECD69DE48}" type="slidenum">
              <a:t>4</a:t>
            </a:fld>
            <a:endParaRPr lang="fr-FR"/>
          </a:p>
        </p:txBody>
      </p:sp>
    </p:spTree>
    <p:extLst>
      <p:ext uri="{BB962C8B-B14F-4D97-AF65-F5344CB8AC3E}">
        <p14:creationId xmlns:p14="http://schemas.microsoft.com/office/powerpoint/2010/main" val="2813301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DB361-2760-E30F-AE02-7821690ABA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E149EE-4679-BE1B-62A3-0D539AE0E1D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624798A-3499-F42E-B96A-C4CDCD498882}"/>
              </a:ext>
            </a:extLst>
          </p:cNvPr>
          <p:cNvSpPr>
            <a:spLocks noGrp="1"/>
          </p:cNvSpPr>
          <p:nvPr>
            <p:ph type="body" idx="1"/>
          </p:nvPr>
        </p:nvSpPr>
        <p:spPr/>
        <p:txBody>
          <a:bodyPr/>
          <a:lstStyle/>
          <a:p>
            <a:r>
              <a:rPr lang="en-US">
                <a:solidFill>
                  <a:srgbClr val="222C31"/>
                </a:solidFill>
                <a:highlight>
                  <a:srgbClr val="FFFFFF"/>
                </a:highlight>
              </a:rPr>
              <a:t>"To structure our analysis, we asked four specific questions. Firstly: which stations and lines are most affected? Secondly: are there any predictable daily or weekly patterns? Thirdly: are the same trains consistently running late? And fourthly: how does a disruption spread throughout the day? These four questions guided our entire study."</a:t>
            </a:r>
            <a:endParaRPr lang="fr-FR"/>
          </a:p>
        </p:txBody>
      </p:sp>
      <p:sp>
        <p:nvSpPr>
          <p:cNvPr id="4" name="Espace réservé du numéro de diapositive 3">
            <a:extLst>
              <a:ext uri="{FF2B5EF4-FFF2-40B4-BE49-F238E27FC236}">
                <a16:creationId xmlns:a16="http://schemas.microsoft.com/office/drawing/2014/main" id="{AA436135-451A-88BC-B8F1-0EB6605A7312}"/>
              </a:ext>
            </a:extLst>
          </p:cNvPr>
          <p:cNvSpPr>
            <a:spLocks noGrp="1"/>
          </p:cNvSpPr>
          <p:nvPr>
            <p:ph type="sldNum" sz="quarter" idx="5"/>
          </p:nvPr>
        </p:nvSpPr>
        <p:spPr/>
        <p:txBody>
          <a:bodyPr/>
          <a:lstStyle/>
          <a:p>
            <a:fld id="{1043913C-D526-4953-9B7B-BE3ECD69DE48}" type="slidenum">
              <a:t>5</a:t>
            </a:fld>
            <a:endParaRPr lang="fr-FR"/>
          </a:p>
        </p:txBody>
      </p:sp>
    </p:spTree>
    <p:extLst>
      <p:ext uri="{BB962C8B-B14F-4D97-AF65-F5344CB8AC3E}">
        <p14:creationId xmlns:p14="http://schemas.microsoft.com/office/powerpoint/2010/main" val="3271521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solidFill>
                  <a:srgbClr val="222C31"/>
                </a:solidFill>
              </a:rPr>
              <a:t>Our dashboard is aimed at three types of users: the </a:t>
            </a:r>
            <a:r>
              <a:rPr lang="en-US" err="1">
                <a:solidFill>
                  <a:srgbClr val="222C31"/>
                </a:solidFill>
              </a:rPr>
              <a:t>d'Infrabel</a:t>
            </a:r>
            <a:r>
              <a:rPr lang="en-US">
                <a:solidFill>
                  <a:srgbClr val="222C31"/>
                </a:solidFill>
              </a:rPr>
              <a:t>, who can identify areas to prioritize for maintenance. </a:t>
            </a:r>
            <a:r>
              <a:rPr lang="en-US" err="1">
                <a:solidFill>
                  <a:srgbClr val="222C31"/>
                </a:solidFill>
              </a:rPr>
              <a:t>MobilityTwin</a:t>
            </a:r>
            <a:r>
              <a:rPr lang="en-US">
                <a:solidFill>
                  <a:srgbClr val="222C31"/>
                </a:solidFill>
              </a:rPr>
              <a:t> researchers, who have a longitudinal analysis tool. And finally the travelers, who can finally understand why their journey is exclusively disrupted</a:t>
            </a:r>
            <a:endParaRPr lang="en-US"/>
          </a:p>
          <a:p>
            <a:endParaRPr lang="en-US">
              <a:ea typeface="Calibri"/>
              <a:cs typeface="Calibri"/>
            </a:endParaRPr>
          </a:p>
        </p:txBody>
      </p:sp>
      <p:sp>
        <p:nvSpPr>
          <p:cNvPr id="4" name="Espace réservé du numéro de diapositive 3"/>
          <p:cNvSpPr>
            <a:spLocks noGrp="1"/>
          </p:cNvSpPr>
          <p:nvPr>
            <p:ph type="sldNum" sz="quarter" idx="5"/>
          </p:nvPr>
        </p:nvSpPr>
        <p:spPr/>
        <p:txBody>
          <a:bodyPr/>
          <a:lstStyle/>
          <a:p>
            <a:fld id="{1043913C-D526-4953-9B7B-BE3ECD69DE48}" type="slidenum">
              <a:rPr lang="fr-FR"/>
              <a:t>6</a:t>
            </a:fld>
            <a:endParaRPr lang="fr-FR"/>
          </a:p>
        </p:txBody>
      </p:sp>
    </p:spTree>
    <p:extLst>
      <p:ext uri="{BB962C8B-B14F-4D97-AF65-F5344CB8AC3E}">
        <p14:creationId xmlns:p14="http://schemas.microsoft.com/office/powerpoint/2010/main" val="4070455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solidFill>
                  <a:srgbClr val="222C31"/>
                </a:solidFill>
                <a:highlight>
                  <a:srgbClr val="FFFFFF"/>
                </a:highlight>
              </a:rPr>
              <a:t>Our data comes from the </a:t>
            </a:r>
            <a:r>
              <a:rPr lang="en-US" err="1">
                <a:solidFill>
                  <a:srgbClr val="222C31"/>
                </a:solidFill>
                <a:highlight>
                  <a:srgbClr val="FFFFFF"/>
                </a:highlight>
              </a:rPr>
              <a:t>MobilityTwin.Brussels</a:t>
            </a:r>
            <a:r>
              <a:rPr lang="en-US">
                <a:solidFill>
                  <a:srgbClr val="222C31"/>
                </a:solidFill>
                <a:highlight>
                  <a:srgbClr val="FFFFFF"/>
                </a:highlight>
              </a:rPr>
              <a:t> API via the Infrabel punctuality endpoint. Each record corresponds to a train stop at a station, with the scheduled time, the actual time and the delay in seconds. Over 43 days, this represents more than 470,000 arrivals at 447 stations and 103 lines. We also use two GeoJSON files for map visualization: station coordinates and railway line geometry.</a:t>
            </a:r>
            <a:endParaRPr lang="fr-FR"/>
          </a:p>
        </p:txBody>
      </p:sp>
      <p:sp>
        <p:nvSpPr>
          <p:cNvPr id="4" name="Espace réservé du numéro de diapositive 3"/>
          <p:cNvSpPr>
            <a:spLocks noGrp="1"/>
          </p:cNvSpPr>
          <p:nvPr>
            <p:ph type="sldNum" sz="quarter" idx="5"/>
          </p:nvPr>
        </p:nvSpPr>
        <p:spPr/>
        <p:txBody>
          <a:bodyPr/>
          <a:lstStyle/>
          <a:p>
            <a:fld id="{1043913C-D526-4953-9B7B-BE3ECD69DE48}" type="slidenum">
              <a:rPr lang="fr-FR"/>
              <a:t>7</a:t>
            </a:fld>
            <a:endParaRPr lang="fr-FR"/>
          </a:p>
        </p:txBody>
      </p:sp>
    </p:spTree>
    <p:extLst>
      <p:ext uri="{BB962C8B-B14F-4D97-AF65-F5344CB8AC3E}">
        <p14:creationId xmlns:p14="http://schemas.microsoft.com/office/powerpoint/2010/main" val="2287904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Raw API data is not directly suitable for analysis because timestamps, delay fields, and categorical information are not structured for visualization. Therefore, the preprocessing pipeline converts raw JSON responses into a clean </a:t>
            </a:r>
            <a:r>
              <a:rPr lang="en-US" err="1"/>
              <a:t>dataframe</a:t>
            </a:r>
            <a:r>
              <a:rPr lang="en-US"/>
              <a:t>, standardizes datetime information, calculates delays in minutes, handles missing values, and creates analytical features such as weekdays, hours, and lateness indicators. This ensures the dataset is reliable for downstream visualization and delay pattern analysis.</a:t>
            </a:r>
          </a:p>
        </p:txBody>
      </p:sp>
      <p:sp>
        <p:nvSpPr>
          <p:cNvPr id="4" name="Slide Number Placeholder 3"/>
          <p:cNvSpPr>
            <a:spLocks noGrp="1"/>
          </p:cNvSpPr>
          <p:nvPr>
            <p:ph type="sldNum" sz="quarter" idx="5"/>
          </p:nvPr>
        </p:nvSpPr>
        <p:spPr/>
        <p:txBody>
          <a:bodyPr/>
          <a:lstStyle/>
          <a:p>
            <a:fld id="{1043913C-D526-4953-9B7B-BE3ECD69DE48}" type="slidenum">
              <a:rPr lang="en-US" smtClean="0"/>
              <a:t>9</a:t>
            </a:fld>
            <a:endParaRPr lang="en-US"/>
          </a:p>
        </p:txBody>
      </p:sp>
    </p:spTree>
    <p:extLst>
      <p:ext uri="{BB962C8B-B14F-4D97-AF65-F5344CB8AC3E}">
        <p14:creationId xmlns:p14="http://schemas.microsoft.com/office/powerpoint/2010/main" val="2772516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6423C-1211-9B8E-14CD-4029E568624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4771A8A9-D837-2685-9E79-46479B777B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
        <p:nvSpPr>
          <p:cNvPr id="4" name="Date Placeholder 3">
            <a:extLst>
              <a:ext uri="{FF2B5EF4-FFF2-40B4-BE49-F238E27FC236}">
                <a16:creationId xmlns:a16="http://schemas.microsoft.com/office/drawing/2014/main" id="{CAA84BEB-C8AF-9A49-986F-BB6C2EE958C2}"/>
              </a:ext>
            </a:extLst>
          </p:cNvPr>
          <p:cNvSpPr>
            <a:spLocks noGrp="1"/>
          </p:cNvSpPr>
          <p:nvPr>
            <p:ph type="dt" sz="half" idx="10"/>
          </p:nvPr>
        </p:nvSpPr>
        <p:spPr/>
        <p:txBody>
          <a:bodyPr/>
          <a:lstStyle/>
          <a:p>
            <a:fld id="{CC2CC393-9F22-A749-899C-19479D6FDB88}" type="datetimeFigureOut">
              <a:rPr lang="en-BE" smtClean="0"/>
              <a:t>05/18/2026</a:t>
            </a:fld>
            <a:endParaRPr lang="en-BE"/>
          </a:p>
        </p:txBody>
      </p:sp>
      <p:sp>
        <p:nvSpPr>
          <p:cNvPr id="5" name="Footer Placeholder 4">
            <a:extLst>
              <a:ext uri="{FF2B5EF4-FFF2-40B4-BE49-F238E27FC236}">
                <a16:creationId xmlns:a16="http://schemas.microsoft.com/office/drawing/2014/main" id="{B89BFCDA-23AD-0AD3-A616-670F635F5B6E}"/>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E8012754-5E0A-3679-B77C-59FC79CED3BF}"/>
              </a:ext>
            </a:extLst>
          </p:cNvPr>
          <p:cNvSpPr>
            <a:spLocks noGrp="1"/>
          </p:cNvSpPr>
          <p:nvPr>
            <p:ph type="sldNum" sz="quarter" idx="12"/>
          </p:nvPr>
        </p:nvSpPr>
        <p:spPr/>
        <p:txBody>
          <a:bodyPr/>
          <a:lstStyle/>
          <a:p>
            <a:fld id="{D1DC2064-332F-C544-95D2-F6BE72B27DF9}" type="slidenum">
              <a:rPr lang="en-BE" smtClean="0"/>
              <a:t>‹N°›</a:t>
            </a:fld>
            <a:endParaRPr lang="en-BE"/>
          </a:p>
        </p:txBody>
      </p:sp>
    </p:spTree>
    <p:extLst>
      <p:ext uri="{BB962C8B-B14F-4D97-AF65-F5344CB8AC3E}">
        <p14:creationId xmlns:p14="http://schemas.microsoft.com/office/powerpoint/2010/main" val="496744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5C510-6026-D4FA-5B36-07596FAA2760}"/>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A502854C-196A-B274-CFB7-04A9F2DCCF1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7E7893AC-9565-2E6F-047E-EF6D255CCD4D}"/>
              </a:ext>
            </a:extLst>
          </p:cNvPr>
          <p:cNvSpPr>
            <a:spLocks noGrp="1"/>
          </p:cNvSpPr>
          <p:nvPr>
            <p:ph type="dt" sz="half" idx="10"/>
          </p:nvPr>
        </p:nvSpPr>
        <p:spPr/>
        <p:txBody>
          <a:bodyPr/>
          <a:lstStyle/>
          <a:p>
            <a:fld id="{CC2CC393-9F22-A749-899C-19479D6FDB88}" type="datetimeFigureOut">
              <a:rPr lang="en-BE" smtClean="0"/>
              <a:t>05/18/2026</a:t>
            </a:fld>
            <a:endParaRPr lang="en-BE"/>
          </a:p>
        </p:txBody>
      </p:sp>
      <p:sp>
        <p:nvSpPr>
          <p:cNvPr id="5" name="Footer Placeholder 4">
            <a:extLst>
              <a:ext uri="{FF2B5EF4-FFF2-40B4-BE49-F238E27FC236}">
                <a16:creationId xmlns:a16="http://schemas.microsoft.com/office/drawing/2014/main" id="{9306338E-E3C3-1585-8446-B0F38B4EE1C0}"/>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DEA88D45-3A41-71AF-DC2A-807E9358F612}"/>
              </a:ext>
            </a:extLst>
          </p:cNvPr>
          <p:cNvSpPr>
            <a:spLocks noGrp="1"/>
          </p:cNvSpPr>
          <p:nvPr>
            <p:ph type="sldNum" sz="quarter" idx="12"/>
          </p:nvPr>
        </p:nvSpPr>
        <p:spPr/>
        <p:txBody>
          <a:bodyPr/>
          <a:lstStyle/>
          <a:p>
            <a:fld id="{D1DC2064-332F-C544-95D2-F6BE72B27DF9}" type="slidenum">
              <a:rPr lang="en-BE" smtClean="0"/>
              <a:t>‹N°›</a:t>
            </a:fld>
            <a:endParaRPr lang="en-BE"/>
          </a:p>
        </p:txBody>
      </p:sp>
    </p:spTree>
    <p:extLst>
      <p:ext uri="{BB962C8B-B14F-4D97-AF65-F5344CB8AC3E}">
        <p14:creationId xmlns:p14="http://schemas.microsoft.com/office/powerpoint/2010/main" val="1973750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9225A-5642-157D-9D22-39D3F44223A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75F005F3-A9F3-E2A3-13BA-E7797E50E1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BF7EB65-89C6-E574-FFAA-0FA825AD22EB}"/>
              </a:ext>
            </a:extLst>
          </p:cNvPr>
          <p:cNvSpPr>
            <a:spLocks noGrp="1"/>
          </p:cNvSpPr>
          <p:nvPr>
            <p:ph type="dt" sz="half" idx="10"/>
          </p:nvPr>
        </p:nvSpPr>
        <p:spPr/>
        <p:txBody>
          <a:bodyPr/>
          <a:lstStyle/>
          <a:p>
            <a:fld id="{CC2CC393-9F22-A749-899C-19479D6FDB88}" type="datetimeFigureOut">
              <a:rPr lang="en-BE" smtClean="0"/>
              <a:t>05/18/2026</a:t>
            </a:fld>
            <a:endParaRPr lang="en-BE"/>
          </a:p>
        </p:txBody>
      </p:sp>
      <p:sp>
        <p:nvSpPr>
          <p:cNvPr id="5" name="Footer Placeholder 4">
            <a:extLst>
              <a:ext uri="{FF2B5EF4-FFF2-40B4-BE49-F238E27FC236}">
                <a16:creationId xmlns:a16="http://schemas.microsoft.com/office/drawing/2014/main" id="{9B35E281-85F0-7994-14A3-5B7D2D119F7A}"/>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2F3D5BEB-7E8F-3C2E-36C4-4A18DFD080CD}"/>
              </a:ext>
            </a:extLst>
          </p:cNvPr>
          <p:cNvSpPr>
            <a:spLocks noGrp="1"/>
          </p:cNvSpPr>
          <p:nvPr>
            <p:ph type="sldNum" sz="quarter" idx="12"/>
          </p:nvPr>
        </p:nvSpPr>
        <p:spPr/>
        <p:txBody>
          <a:bodyPr/>
          <a:lstStyle/>
          <a:p>
            <a:fld id="{D1DC2064-332F-C544-95D2-F6BE72B27DF9}" type="slidenum">
              <a:rPr lang="en-BE" smtClean="0"/>
              <a:t>‹N°›</a:t>
            </a:fld>
            <a:endParaRPr lang="en-BE"/>
          </a:p>
        </p:txBody>
      </p:sp>
    </p:spTree>
    <p:extLst>
      <p:ext uri="{BB962C8B-B14F-4D97-AF65-F5344CB8AC3E}">
        <p14:creationId xmlns:p14="http://schemas.microsoft.com/office/powerpoint/2010/main" val="2431635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E06B5-BF27-3770-AE0E-A764A2DFC0DB}"/>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1136653D-EE41-C493-ADA0-739ACC03E92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Content Placeholder 3">
            <a:extLst>
              <a:ext uri="{FF2B5EF4-FFF2-40B4-BE49-F238E27FC236}">
                <a16:creationId xmlns:a16="http://schemas.microsoft.com/office/drawing/2014/main" id="{06279887-0853-8619-6DD2-78CC569C6F4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Date Placeholder 4">
            <a:extLst>
              <a:ext uri="{FF2B5EF4-FFF2-40B4-BE49-F238E27FC236}">
                <a16:creationId xmlns:a16="http://schemas.microsoft.com/office/drawing/2014/main" id="{E2C0D637-D677-D173-3D73-1CAB85175B18}"/>
              </a:ext>
            </a:extLst>
          </p:cNvPr>
          <p:cNvSpPr>
            <a:spLocks noGrp="1"/>
          </p:cNvSpPr>
          <p:nvPr>
            <p:ph type="dt" sz="half" idx="10"/>
          </p:nvPr>
        </p:nvSpPr>
        <p:spPr/>
        <p:txBody>
          <a:bodyPr/>
          <a:lstStyle/>
          <a:p>
            <a:fld id="{CC2CC393-9F22-A749-899C-19479D6FDB88}" type="datetimeFigureOut">
              <a:rPr lang="en-BE" smtClean="0"/>
              <a:t>05/18/2026</a:t>
            </a:fld>
            <a:endParaRPr lang="en-BE"/>
          </a:p>
        </p:txBody>
      </p:sp>
      <p:sp>
        <p:nvSpPr>
          <p:cNvPr id="6" name="Footer Placeholder 5">
            <a:extLst>
              <a:ext uri="{FF2B5EF4-FFF2-40B4-BE49-F238E27FC236}">
                <a16:creationId xmlns:a16="http://schemas.microsoft.com/office/drawing/2014/main" id="{5BEF37BB-96BC-CCD0-814A-3A6344C37462}"/>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67033CC9-3CA6-22B3-17EE-B6AF931D8512}"/>
              </a:ext>
            </a:extLst>
          </p:cNvPr>
          <p:cNvSpPr>
            <a:spLocks noGrp="1"/>
          </p:cNvSpPr>
          <p:nvPr>
            <p:ph type="sldNum" sz="quarter" idx="12"/>
          </p:nvPr>
        </p:nvSpPr>
        <p:spPr/>
        <p:txBody>
          <a:bodyPr/>
          <a:lstStyle/>
          <a:p>
            <a:fld id="{D1DC2064-332F-C544-95D2-F6BE72B27DF9}" type="slidenum">
              <a:rPr lang="en-BE" smtClean="0"/>
              <a:t>‹N°›</a:t>
            </a:fld>
            <a:endParaRPr lang="en-BE"/>
          </a:p>
        </p:txBody>
      </p:sp>
    </p:spTree>
    <p:extLst>
      <p:ext uri="{BB962C8B-B14F-4D97-AF65-F5344CB8AC3E}">
        <p14:creationId xmlns:p14="http://schemas.microsoft.com/office/powerpoint/2010/main" val="3372422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74BFD-2F5C-CD43-141E-5FFFAFC11BAC}"/>
              </a:ext>
            </a:extLst>
          </p:cNvPr>
          <p:cNvSpPr>
            <a:spLocks noGrp="1"/>
          </p:cNvSpPr>
          <p:nvPr>
            <p:ph type="title"/>
          </p:nvPr>
        </p:nvSpPr>
        <p:spPr>
          <a:xfrm>
            <a:off x="839788" y="365125"/>
            <a:ext cx="10515600" cy="1325563"/>
          </a:xfrm>
        </p:spPr>
        <p:txBody>
          <a:bodyPr/>
          <a:lstStyle/>
          <a:p>
            <a:r>
              <a:rPr lang="en-GB"/>
              <a:t>Click to edit Master title style</a:t>
            </a:r>
            <a:endParaRPr lang="en-BE"/>
          </a:p>
        </p:txBody>
      </p:sp>
      <p:sp>
        <p:nvSpPr>
          <p:cNvPr id="3" name="Text Placeholder 2">
            <a:extLst>
              <a:ext uri="{FF2B5EF4-FFF2-40B4-BE49-F238E27FC236}">
                <a16:creationId xmlns:a16="http://schemas.microsoft.com/office/drawing/2014/main" id="{276D4220-E147-C0B4-C1FD-7BB9978CB1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7214F07-A5DB-A19D-1BD7-17379CFF81B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4">
            <a:extLst>
              <a:ext uri="{FF2B5EF4-FFF2-40B4-BE49-F238E27FC236}">
                <a16:creationId xmlns:a16="http://schemas.microsoft.com/office/drawing/2014/main" id="{34791391-E51E-6237-251C-49F2238295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595CE1B-2728-8ED2-C80F-255E7630791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Date Placeholder 6">
            <a:extLst>
              <a:ext uri="{FF2B5EF4-FFF2-40B4-BE49-F238E27FC236}">
                <a16:creationId xmlns:a16="http://schemas.microsoft.com/office/drawing/2014/main" id="{2C727E30-CA63-4003-E47B-311A67D10259}"/>
              </a:ext>
            </a:extLst>
          </p:cNvPr>
          <p:cNvSpPr>
            <a:spLocks noGrp="1"/>
          </p:cNvSpPr>
          <p:nvPr>
            <p:ph type="dt" sz="half" idx="10"/>
          </p:nvPr>
        </p:nvSpPr>
        <p:spPr/>
        <p:txBody>
          <a:bodyPr/>
          <a:lstStyle/>
          <a:p>
            <a:fld id="{CC2CC393-9F22-A749-899C-19479D6FDB88}" type="datetimeFigureOut">
              <a:rPr lang="en-BE" smtClean="0"/>
              <a:t>05/18/2026</a:t>
            </a:fld>
            <a:endParaRPr lang="en-BE"/>
          </a:p>
        </p:txBody>
      </p:sp>
      <p:sp>
        <p:nvSpPr>
          <p:cNvPr id="8" name="Footer Placeholder 7">
            <a:extLst>
              <a:ext uri="{FF2B5EF4-FFF2-40B4-BE49-F238E27FC236}">
                <a16:creationId xmlns:a16="http://schemas.microsoft.com/office/drawing/2014/main" id="{1F07B583-6735-A9E1-F2EE-C2C145F87698}"/>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273374A3-AC42-9F35-6E0D-8CDCDDF8AD53}"/>
              </a:ext>
            </a:extLst>
          </p:cNvPr>
          <p:cNvSpPr>
            <a:spLocks noGrp="1"/>
          </p:cNvSpPr>
          <p:nvPr>
            <p:ph type="sldNum" sz="quarter" idx="12"/>
          </p:nvPr>
        </p:nvSpPr>
        <p:spPr/>
        <p:txBody>
          <a:bodyPr/>
          <a:lstStyle/>
          <a:p>
            <a:fld id="{D1DC2064-332F-C544-95D2-F6BE72B27DF9}" type="slidenum">
              <a:rPr lang="en-BE" smtClean="0"/>
              <a:t>‹N°›</a:t>
            </a:fld>
            <a:endParaRPr lang="en-BE"/>
          </a:p>
        </p:txBody>
      </p:sp>
    </p:spTree>
    <p:extLst>
      <p:ext uri="{BB962C8B-B14F-4D97-AF65-F5344CB8AC3E}">
        <p14:creationId xmlns:p14="http://schemas.microsoft.com/office/powerpoint/2010/main" val="403187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9A727-C34F-77CE-ABA8-AC80FEC7D1AE}"/>
              </a:ext>
            </a:extLst>
          </p:cNvPr>
          <p:cNvSpPr>
            <a:spLocks noGrp="1"/>
          </p:cNvSpPr>
          <p:nvPr>
            <p:ph type="title"/>
          </p:nvPr>
        </p:nvSpPr>
        <p:spPr/>
        <p:txBody>
          <a:bodyPr/>
          <a:lstStyle/>
          <a:p>
            <a:r>
              <a:rPr lang="en-GB"/>
              <a:t>Click to edit Master title style</a:t>
            </a:r>
            <a:endParaRPr lang="en-BE"/>
          </a:p>
        </p:txBody>
      </p:sp>
      <p:sp>
        <p:nvSpPr>
          <p:cNvPr id="3" name="Date Placeholder 2">
            <a:extLst>
              <a:ext uri="{FF2B5EF4-FFF2-40B4-BE49-F238E27FC236}">
                <a16:creationId xmlns:a16="http://schemas.microsoft.com/office/drawing/2014/main" id="{4FB2FA35-735F-6358-183A-3DFD9F7C66D8}"/>
              </a:ext>
            </a:extLst>
          </p:cNvPr>
          <p:cNvSpPr>
            <a:spLocks noGrp="1"/>
          </p:cNvSpPr>
          <p:nvPr>
            <p:ph type="dt" sz="half" idx="10"/>
          </p:nvPr>
        </p:nvSpPr>
        <p:spPr/>
        <p:txBody>
          <a:bodyPr/>
          <a:lstStyle/>
          <a:p>
            <a:fld id="{CC2CC393-9F22-A749-899C-19479D6FDB88}" type="datetimeFigureOut">
              <a:rPr lang="en-BE" smtClean="0"/>
              <a:t>05/18/2026</a:t>
            </a:fld>
            <a:endParaRPr lang="en-BE"/>
          </a:p>
        </p:txBody>
      </p:sp>
      <p:sp>
        <p:nvSpPr>
          <p:cNvPr id="4" name="Footer Placeholder 3">
            <a:extLst>
              <a:ext uri="{FF2B5EF4-FFF2-40B4-BE49-F238E27FC236}">
                <a16:creationId xmlns:a16="http://schemas.microsoft.com/office/drawing/2014/main" id="{255D5F83-3AB4-6433-B9F1-6C430BCBB5A0}"/>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A5E9B81D-BEA4-7FB3-B7B3-F0E7616C84E2}"/>
              </a:ext>
            </a:extLst>
          </p:cNvPr>
          <p:cNvSpPr>
            <a:spLocks noGrp="1"/>
          </p:cNvSpPr>
          <p:nvPr>
            <p:ph type="sldNum" sz="quarter" idx="12"/>
          </p:nvPr>
        </p:nvSpPr>
        <p:spPr/>
        <p:txBody>
          <a:bodyPr/>
          <a:lstStyle/>
          <a:p>
            <a:fld id="{D1DC2064-332F-C544-95D2-F6BE72B27DF9}" type="slidenum">
              <a:rPr lang="en-BE" smtClean="0"/>
              <a:t>‹N°›</a:t>
            </a:fld>
            <a:endParaRPr lang="en-BE"/>
          </a:p>
        </p:txBody>
      </p:sp>
    </p:spTree>
    <p:extLst>
      <p:ext uri="{BB962C8B-B14F-4D97-AF65-F5344CB8AC3E}">
        <p14:creationId xmlns:p14="http://schemas.microsoft.com/office/powerpoint/2010/main" val="2993022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FA12EA-3347-62D6-9CA4-9741629F79F1}"/>
              </a:ext>
            </a:extLst>
          </p:cNvPr>
          <p:cNvSpPr>
            <a:spLocks noGrp="1"/>
          </p:cNvSpPr>
          <p:nvPr>
            <p:ph type="dt" sz="half" idx="10"/>
          </p:nvPr>
        </p:nvSpPr>
        <p:spPr/>
        <p:txBody>
          <a:bodyPr/>
          <a:lstStyle/>
          <a:p>
            <a:fld id="{CC2CC393-9F22-A749-899C-19479D6FDB88}" type="datetimeFigureOut">
              <a:rPr lang="en-BE" smtClean="0"/>
              <a:t>05/18/2026</a:t>
            </a:fld>
            <a:endParaRPr lang="en-BE"/>
          </a:p>
        </p:txBody>
      </p:sp>
      <p:sp>
        <p:nvSpPr>
          <p:cNvPr id="3" name="Footer Placeholder 2">
            <a:extLst>
              <a:ext uri="{FF2B5EF4-FFF2-40B4-BE49-F238E27FC236}">
                <a16:creationId xmlns:a16="http://schemas.microsoft.com/office/drawing/2014/main" id="{B77273F3-9C7C-BB3C-012A-E495AB9FF9A3}"/>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2B7C05DA-02A4-1BA5-6455-219FBC7A453B}"/>
              </a:ext>
            </a:extLst>
          </p:cNvPr>
          <p:cNvSpPr>
            <a:spLocks noGrp="1"/>
          </p:cNvSpPr>
          <p:nvPr>
            <p:ph type="sldNum" sz="quarter" idx="12"/>
          </p:nvPr>
        </p:nvSpPr>
        <p:spPr/>
        <p:txBody>
          <a:bodyPr/>
          <a:lstStyle/>
          <a:p>
            <a:fld id="{D1DC2064-332F-C544-95D2-F6BE72B27DF9}" type="slidenum">
              <a:rPr lang="en-BE" smtClean="0"/>
              <a:t>‹N°›</a:t>
            </a:fld>
            <a:endParaRPr lang="en-BE"/>
          </a:p>
        </p:txBody>
      </p:sp>
    </p:spTree>
    <p:extLst>
      <p:ext uri="{BB962C8B-B14F-4D97-AF65-F5344CB8AC3E}">
        <p14:creationId xmlns:p14="http://schemas.microsoft.com/office/powerpoint/2010/main" val="1885118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49CA6-2739-EADF-D9C5-25DB310B2CD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Content Placeholder 2">
            <a:extLst>
              <a:ext uri="{FF2B5EF4-FFF2-40B4-BE49-F238E27FC236}">
                <a16:creationId xmlns:a16="http://schemas.microsoft.com/office/drawing/2014/main" id="{315F38A6-E778-03F7-2BB0-2D4F02811A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3">
            <a:extLst>
              <a:ext uri="{FF2B5EF4-FFF2-40B4-BE49-F238E27FC236}">
                <a16:creationId xmlns:a16="http://schemas.microsoft.com/office/drawing/2014/main" id="{1AFC312D-0110-8AC9-00ED-A7FEABE677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B3F8271-A7D4-15AC-B20A-8005406929BB}"/>
              </a:ext>
            </a:extLst>
          </p:cNvPr>
          <p:cNvSpPr>
            <a:spLocks noGrp="1"/>
          </p:cNvSpPr>
          <p:nvPr>
            <p:ph type="dt" sz="half" idx="10"/>
          </p:nvPr>
        </p:nvSpPr>
        <p:spPr/>
        <p:txBody>
          <a:bodyPr/>
          <a:lstStyle/>
          <a:p>
            <a:fld id="{CC2CC393-9F22-A749-899C-19479D6FDB88}" type="datetimeFigureOut">
              <a:rPr lang="en-BE" smtClean="0"/>
              <a:t>05/18/2026</a:t>
            </a:fld>
            <a:endParaRPr lang="en-BE"/>
          </a:p>
        </p:txBody>
      </p:sp>
      <p:sp>
        <p:nvSpPr>
          <p:cNvPr id="6" name="Footer Placeholder 5">
            <a:extLst>
              <a:ext uri="{FF2B5EF4-FFF2-40B4-BE49-F238E27FC236}">
                <a16:creationId xmlns:a16="http://schemas.microsoft.com/office/drawing/2014/main" id="{F6828861-91BF-D19E-0020-407816636736}"/>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ACFB4E74-E9D1-DC3C-079A-34F2846993DE}"/>
              </a:ext>
            </a:extLst>
          </p:cNvPr>
          <p:cNvSpPr>
            <a:spLocks noGrp="1"/>
          </p:cNvSpPr>
          <p:nvPr>
            <p:ph type="sldNum" sz="quarter" idx="12"/>
          </p:nvPr>
        </p:nvSpPr>
        <p:spPr/>
        <p:txBody>
          <a:bodyPr/>
          <a:lstStyle/>
          <a:p>
            <a:fld id="{D1DC2064-332F-C544-95D2-F6BE72B27DF9}" type="slidenum">
              <a:rPr lang="en-BE" smtClean="0"/>
              <a:t>‹N°›</a:t>
            </a:fld>
            <a:endParaRPr lang="en-BE"/>
          </a:p>
        </p:txBody>
      </p:sp>
    </p:spTree>
    <p:extLst>
      <p:ext uri="{BB962C8B-B14F-4D97-AF65-F5344CB8AC3E}">
        <p14:creationId xmlns:p14="http://schemas.microsoft.com/office/powerpoint/2010/main" val="1919348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84AAF-091C-8B10-E8CE-2AE5AD4352F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Picture Placeholder 2">
            <a:extLst>
              <a:ext uri="{FF2B5EF4-FFF2-40B4-BE49-F238E27FC236}">
                <a16:creationId xmlns:a16="http://schemas.microsoft.com/office/drawing/2014/main" id="{8C866CFF-BE56-63D8-EADA-124AEC4AF4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FC96161D-3F79-CD18-2DC5-FD3C09C47E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CAFA400-DF71-F631-3924-0EF9EDB6D615}"/>
              </a:ext>
            </a:extLst>
          </p:cNvPr>
          <p:cNvSpPr>
            <a:spLocks noGrp="1"/>
          </p:cNvSpPr>
          <p:nvPr>
            <p:ph type="dt" sz="half" idx="10"/>
          </p:nvPr>
        </p:nvSpPr>
        <p:spPr/>
        <p:txBody>
          <a:bodyPr/>
          <a:lstStyle/>
          <a:p>
            <a:fld id="{CC2CC393-9F22-A749-899C-19479D6FDB88}" type="datetimeFigureOut">
              <a:rPr lang="en-BE" smtClean="0"/>
              <a:t>05/18/2026</a:t>
            </a:fld>
            <a:endParaRPr lang="en-BE"/>
          </a:p>
        </p:txBody>
      </p:sp>
      <p:sp>
        <p:nvSpPr>
          <p:cNvPr id="6" name="Footer Placeholder 5">
            <a:extLst>
              <a:ext uri="{FF2B5EF4-FFF2-40B4-BE49-F238E27FC236}">
                <a16:creationId xmlns:a16="http://schemas.microsoft.com/office/drawing/2014/main" id="{7F256A03-2EC6-F71F-BCA5-37F552E20176}"/>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E7D0A8D4-39BE-2BD8-25FE-3D63A65D33AB}"/>
              </a:ext>
            </a:extLst>
          </p:cNvPr>
          <p:cNvSpPr>
            <a:spLocks noGrp="1"/>
          </p:cNvSpPr>
          <p:nvPr>
            <p:ph type="sldNum" sz="quarter" idx="12"/>
          </p:nvPr>
        </p:nvSpPr>
        <p:spPr/>
        <p:txBody>
          <a:bodyPr/>
          <a:lstStyle/>
          <a:p>
            <a:fld id="{D1DC2064-332F-C544-95D2-F6BE72B27DF9}" type="slidenum">
              <a:rPr lang="en-BE" smtClean="0"/>
              <a:t>‹N°›</a:t>
            </a:fld>
            <a:endParaRPr lang="en-BE"/>
          </a:p>
        </p:txBody>
      </p:sp>
    </p:spTree>
    <p:extLst>
      <p:ext uri="{BB962C8B-B14F-4D97-AF65-F5344CB8AC3E}">
        <p14:creationId xmlns:p14="http://schemas.microsoft.com/office/powerpoint/2010/main" val="341690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1FC6F-68B6-B993-DA1C-9406592BB8C4}"/>
              </a:ext>
            </a:extLst>
          </p:cNvPr>
          <p:cNvSpPr>
            <a:spLocks noGrp="1"/>
          </p:cNvSpPr>
          <p:nvPr>
            <p:ph type="title"/>
          </p:nvPr>
        </p:nvSpPr>
        <p:spPr/>
        <p:txBody>
          <a:bodyPr/>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EF48B8E8-464C-62D1-E38E-D4ACBC98D83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C8465CF4-FA84-EB24-A05A-3E6A1C84F703}"/>
              </a:ext>
            </a:extLst>
          </p:cNvPr>
          <p:cNvSpPr>
            <a:spLocks noGrp="1"/>
          </p:cNvSpPr>
          <p:nvPr>
            <p:ph type="dt" sz="half" idx="10"/>
          </p:nvPr>
        </p:nvSpPr>
        <p:spPr/>
        <p:txBody>
          <a:bodyPr/>
          <a:lstStyle/>
          <a:p>
            <a:fld id="{CC2CC393-9F22-A749-899C-19479D6FDB88}" type="datetimeFigureOut">
              <a:rPr lang="en-BE" smtClean="0"/>
              <a:t>05/18/2026</a:t>
            </a:fld>
            <a:endParaRPr lang="en-BE"/>
          </a:p>
        </p:txBody>
      </p:sp>
      <p:sp>
        <p:nvSpPr>
          <p:cNvPr id="5" name="Footer Placeholder 4">
            <a:extLst>
              <a:ext uri="{FF2B5EF4-FFF2-40B4-BE49-F238E27FC236}">
                <a16:creationId xmlns:a16="http://schemas.microsoft.com/office/drawing/2014/main" id="{898AAB29-5F5E-321E-D952-A6B129EE9525}"/>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367F935F-BD72-A0D6-A301-FA7360062B48}"/>
              </a:ext>
            </a:extLst>
          </p:cNvPr>
          <p:cNvSpPr>
            <a:spLocks noGrp="1"/>
          </p:cNvSpPr>
          <p:nvPr>
            <p:ph type="sldNum" sz="quarter" idx="12"/>
          </p:nvPr>
        </p:nvSpPr>
        <p:spPr/>
        <p:txBody>
          <a:bodyPr/>
          <a:lstStyle/>
          <a:p>
            <a:fld id="{D1DC2064-332F-C544-95D2-F6BE72B27DF9}" type="slidenum">
              <a:rPr lang="en-BE" smtClean="0"/>
              <a:t>‹N°›</a:t>
            </a:fld>
            <a:endParaRPr lang="en-BE"/>
          </a:p>
        </p:txBody>
      </p:sp>
    </p:spTree>
    <p:extLst>
      <p:ext uri="{BB962C8B-B14F-4D97-AF65-F5344CB8AC3E}">
        <p14:creationId xmlns:p14="http://schemas.microsoft.com/office/powerpoint/2010/main" val="2140965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C5362D-EA87-3C9A-EF6E-5BE546E5C0A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F6573467-0D74-66A9-BFF7-9932ECFB1BE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5B060B81-1635-A9EB-C6B2-5FAC45D2CD16}"/>
              </a:ext>
            </a:extLst>
          </p:cNvPr>
          <p:cNvSpPr>
            <a:spLocks noGrp="1"/>
          </p:cNvSpPr>
          <p:nvPr>
            <p:ph type="dt" sz="half" idx="10"/>
          </p:nvPr>
        </p:nvSpPr>
        <p:spPr/>
        <p:txBody>
          <a:bodyPr/>
          <a:lstStyle/>
          <a:p>
            <a:fld id="{CC2CC393-9F22-A749-899C-19479D6FDB88}" type="datetimeFigureOut">
              <a:rPr lang="en-BE" smtClean="0"/>
              <a:t>05/18/2026</a:t>
            </a:fld>
            <a:endParaRPr lang="en-BE"/>
          </a:p>
        </p:txBody>
      </p:sp>
      <p:sp>
        <p:nvSpPr>
          <p:cNvPr id="5" name="Footer Placeholder 4">
            <a:extLst>
              <a:ext uri="{FF2B5EF4-FFF2-40B4-BE49-F238E27FC236}">
                <a16:creationId xmlns:a16="http://schemas.microsoft.com/office/drawing/2014/main" id="{221BF6FF-C4CC-6745-CA69-F19F31E4A599}"/>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2C98D56F-C2A3-A445-07AE-856A9966281E}"/>
              </a:ext>
            </a:extLst>
          </p:cNvPr>
          <p:cNvSpPr>
            <a:spLocks noGrp="1"/>
          </p:cNvSpPr>
          <p:nvPr>
            <p:ph type="sldNum" sz="quarter" idx="12"/>
          </p:nvPr>
        </p:nvSpPr>
        <p:spPr/>
        <p:txBody>
          <a:bodyPr/>
          <a:lstStyle/>
          <a:p>
            <a:fld id="{D1DC2064-332F-C544-95D2-F6BE72B27DF9}" type="slidenum">
              <a:rPr lang="en-BE" smtClean="0"/>
              <a:t>‹N°›</a:t>
            </a:fld>
            <a:endParaRPr lang="en-BE"/>
          </a:p>
        </p:txBody>
      </p:sp>
    </p:spTree>
    <p:extLst>
      <p:ext uri="{BB962C8B-B14F-4D97-AF65-F5344CB8AC3E}">
        <p14:creationId xmlns:p14="http://schemas.microsoft.com/office/powerpoint/2010/main" val="3032159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050CD7-E907-9C59-7A88-A2AC8D80C9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E"/>
          </a:p>
        </p:txBody>
      </p:sp>
      <p:sp>
        <p:nvSpPr>
          <p:cNvPr id="3" name="Text Placeholder 2">
            <a:extLst>
              <a:ext uri="{FF2B5EF4-FFF2-40B4-BE49-F238E27FC236}">
                <a16:creationId xmlns:a16="http://schemas.microsoft.com/office/drawing/2014/main" id="{FCF2F607-EC20-5A98-6E40-20E93FF147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6531E047-CE82-EBEC-CE67-E3CC699C8C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2CC393-9F22-A749-899C-19479D6FDB88}" type="datetimeFigureOut">
              <a:rPr lang="en-BE" smtClean="0"/>
              <a:t>05/18/2026</a:t>
            </a:fld>
            <a:endParaRPr lang="en-BE"/>
          </a:p>
        </p:txBody>
      </p:sp>
      <p:sp>
        <p:nvSpPr>
          <p:cNvPr id="5" name="Footer Placeholder 4">
            <a:extLst>
              <a:ext uri="{FF2B5EF4-FFF2-40B4-BE49-F238E27FC236}">
                <a16:creationId xmlns:a16="http://schemas.microsoft.com/office/drawing/2014/main" id="{6AC6EF68-5022-15DC-39FA-2BA478D928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BE"/>
          </a:p>
        </p:txBody>
      </p:sp>
      <p:sp>
        <p:nvSpPr>
          <p:cNvPr id="6" name="Slide Number Placeholder 5">
            <a:extLst>
              <a:ext uri="{FF2B5EF4-FFF2-40B4-BE49-F238E27FC236}">
                <a16:creationId xmlns:a16="http://schemas.microsoft.com/office/drawing/2014/main" id="{83CBE9E1-4D3E-94A5-71B5-5FB3F9E438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DC2064-332F-C544-95D2-F6BE72B27DF9}" type="slidenum">
              <a:rPr lang="en-BE" smtClean="0"/>
              <a:t>‹N°›</a:t>
            </a:fld>
            <a:endParaRPr lang="en-BE"/>
          </a:p>
        </p:txBody>
      </p:sp>
    </p:spTree>
    <p:extLst>
      <p:ext uri="{BB962C8B-B14F-4D97-AF65-F5344CB8AC3E}">
        <p14:creationId xmlns:p14="http://schemas.microsoft.com/office/powerpoint/2010/main" val="1179454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AF73C-6095-6705-6047-416C927CAD52}"/>
              </a:ext>
            </a:extLst>
          </p:cNvPr>
          <p:cNvSpPr>
            <a:spLocks noGrp="1"/>
          </p:cNvSpPr>
          <p:nvPr>
            <p:ph type="ctrTitle"/>
          </p:nvPr>
        </p:nvSpPr>
        <p:spPr>
          <a:xfrm>
            <a:off x="1524000" y="635000"/>
            <a:ext cx="8466667" cy="1828800"/>
          </a:xfrm>
        </p:spPr>
        <p:txBody>
          <a:bodyPr>
            <a:normAutofit/>
          </a:bodyPr>
          <a:lstStyle/>
          <a:p>
            <a:r>
              <a:rPr lang="en-BE" sz="3100">
                <a:latin typeface="Century Gothic" panose="020B0502020202020204" pitchFamily="34" charset="0"/>
              </a:rPr>
              <a:t>INFO-H509</a:t>
            </a:r>
            <a:br>
              <a:rPr lang="en-BE" sz="3100">
                <a:latin typeface="Century Gothic" panose="020B0502020202020204" pitchFamily="34" charset="0"/>
              </a:rPr>
            </a:br>
            <a:r>
              <a:rPr lang="en-BE" sz="3100">
                <a:latin typeface="Century Gothic" panose="020B0502020202020204" pitchFamily="34" charset="0"/>
              </a:rPr>
              <a:t>Geo-Spatial and web technologies</a:t>
            </a:r>
            <a:br>
              <a:rPr lang="en-BE">
                <a:latin typeface="Century Gothic" panose="020B0502020202020204" pitchFamily="34" charset="0"/>
              </a:rPr>
            </a:br>
            <a:endParaRPr lang="en-BE">
              <a:latin typeface="Century Gothic" panose="020B0502020202020204" pitchFamily="34" charset="0"/>
            </a:endParaRPr>
          </a:p>
        </p:txBody>
      </p:sp>
      <p:sp>
        <p:nvSpPr>
          <p:cNvPr id="3" name="Subtitle 2">
            <a:extLst>
              <a:ext uri="{FF2B5EF4-FFF2-40B4-BE49-F238E27FC236}">
                <a16:creationId xmlns:a16="http://schemas.microsoft.com/office/drawing/2014/main" id="{13B72D1E-1B5C-E54A-FB8D-0FA0B5548766}"/>
              </a:ext>
            </a:extLst>
          </p:cNvPr>
          <p:cNvSpPr>
            <a:spLocks noGrp="1"/>
          </p:cNvSpPr>
          <p:nvPr>
            <p:ph type="subTitle" idx="1"/>
          </p:nvPr>
        </p:nvSpPr>
        <p:spPr>
          <a:xfrm>
            <a:off x="1524000" y="2194718"/>
            <a:ext cx="9144000" cy="1655762"/>
          </a:xfrm>
        </p:spPr>
        <p:txBody>
          <a:bodyPr vert="horz" lIns="91440" tIns="45720" rIns="91440" bIns="45720" rtlCol="0" anchor="t">
            <a:normAutofit/>
          </a:bodyPr>
          <a:lstStyle/>
          <a:p>
            <a:r>
              <a:rPr lang="en-BE" sz="4800">
                <a:solidFill>
                  <a:srgbClr val="FF0000"/>
                </a:solidFill>
                <a:latin typeface="Century Gothic"/>
              </a:rPr>
              <a:t>Urban Mobility Use case : Delay Visualization</a:t>
            </a:r>
          </a:p>
        </p:txBody>
      </p:sp>
      <p:pic>
        <p:nvPicPr>
          <p:cNvPr id="4" name="Picture 3">
            <a:extLst>
              <a:ext uri="{FF2B5EF4-FFF2-40B4-BE49-F238E27FC236}">
                <a16:creationId xmlns:a16="http://schemas.microsoft.com/office/drawing/2014/main" id="{C62110A3-29DE-7953-FE25-DC6ABE972E19}"/>
              </a:ext>
            </a:extLst>
          </p:cNvPr>
          <p:cNvPicPr>
            <a:picLocks noChangeAspect="1"/>
          </p:cNvPicPr>
          <p:nvPr/>
        </p:nvPicPr>
        <p:blipFill>
          <a:blip r:embed="rId2"/>
          <a:stretch>
            <a:fillRect/>
          </a:stretch>
        </p:blipFill>
        <p:spPr>
          <a:xfrm>
            <a:off x="9042400" y="0"/>
            <a:ext cx="3149600" cy="635000"/>
          </a:xfrm>
          <a:prstGeom prst="rect">
            <a:avLst/>
          </a:prstGeom>
        </p:spPr>
      </p:pic>
      <p:sp>
        <p:nvSpPr>
          <p:cNvPr id="5" name="Subtitle 2">
            <a:extLst>
              <a:ext uri="{FF2B5EF4-FFF2-40B4-BE49-F238E27FC236}">
                <a16:creationId xmlns:a16="http://schemas.microsoft.com/office/drawing/2014/main" id="{F6688338-FEAA-F198-FA80-5CFFA96A3136}"/>
              </a:ext>
            </a:extLst>
          </p:cNvPr>
          <p:cNvSpPr txBox="1">
            <a:spLocks/>
          </p:cNvSpPr>
          <p:nvPr/>
        </p:nvSpPr>
        <p:spPr>
          <a:xfrm>
            <a:off x="559179" y="4326041"/>
            <a:ext cx="4707468" cy="2218661"/>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BE" sz="2800">
                <a:latin typeface="Century Gothic"/>
              </a:rPr>
              <a:t>Student :  Imad SHAROF</a:t>
            </a:r>
            <a:endParaRPr lang="fr-FR">
              <a:latin typeface="Century Gothic"/>
            </a:endParaRPr>
          </a:p>
          <a:p>
            <a:r>
              <a:rPr lang="en-BE" sz="2800">
                <a:latin typeface="Century Gothic"/>
              </a:rPr>
              <a:t>Antonios Sisiaridis</a:t>
            </a:r>
            <a:br>
              <a:rPr lang="en-BE" sz="2800">
                <a:latin typeface="Century Gothic"/>
              </a:rPr>
            </a:br>
            <a:r>
              <a:rPr lang="en-US" sz="2800">
                <a:latin typeface="Century Gothic"/>
              </a:rPr>
              <a:t>Noor ul Hassan</a:t>
            </a:r>
          </a:p>
          <a:p>
            <a:r>
              <a:rPr lang="en-BE" sz="2800"/>
              <a:t>Murielle Tchamakam</a:t>
            </a:r>
          </a:p>
          <a:p>
            <a:r>
              <a:rPr lang="en-BE" sz="2800"/>
              <a:t>Aziable Yawa</a:t>
            </a:r>
          </a:p>
        </p:txBody>
      </p:sp>
      <p:sp>
        <p:nvSpPr>
          <p:cNvPr id="6" name="Subtitle 2">
            <a:extLst>
              <a:ext uri="{FF2B5EF4-FFF2-40B4-BE49-F238E27FC236}">
                <a16:creationId xmlns:a16="http://schemas.microsoft.com/office/drawing/2014/main" id="{8E72C6B6-FF6B-09B8-3175-8C86315A2398}"/>
              </a:ext>
            </a:extLst>
          </p:cNvPr>
          <p:cNvSpPr txBox="1">
            <a:spLocks/>
          </p:cNvSpPr>
          <p:nvPr/>
        </p:nvSpPr>
        <p:spPr>
          <a:xfrm>
            <a:off x="6187707" y="4329372"/>
            <a:ext cx="5706533" cy="937551"/>
          </a:xfrm>
          <a:prstGeom prst="rect">
            <a:avLst/>
          </a:prstGeom>
        </p:spPr>
        <p:txBody>
          <a:bodyPr vert="horz" lIns="91440" tIns="45720" rIns="91440" bIns="45720" rtlCol="0" anchor="t">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BE" sz="2800">
                <a:latin typeface="Century Gothic"/>
              </a:rPr>
              <a:t>Professor : Mahmoud Sakr</a:t>
            </a:r>
            <a:endParaRPr lang="fr-FR" sz="2800">
              <a:latin typeface="Century Gothic"/>
            </a:endParaRPr>
          </a:p>
          <a:p>
            <a:r>
              <a:rPr lang="en-BE" sz="2800">
                <a:latin typeface="Century Gothic"/>
              </a:rPr>
              <a:t>Teacher Assistant : Gaspard Merten</a:t>
            </a:r>
            <a:endParaRPr lang="fr-FR"/>
          </a:p>
        </p:txBody>
      </p:sp>
    </p:spTree>
    <p:extLst>
      <p:ext uri="{BB962C8B-B14F-4D97-AF65-F5344CB8AC3E}">
        <p14:creationId xmlns:p14="http://schemas.microsoft.com/office/powerpoint/2010/main" val="865713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AC57-D4E8-8B90-2CAA-BBC69740A5C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DDF2C47-A996-CF3F-04C1-B4D276169670}"/>
              </a:ext>
            </a:extLst>
          </p:cNvPr>
          <p:cNvSpPr>
            <a:spLocks noGrp="1"/>
          </p:cNvSpPr>
          <p:nvPr>
            <p:ph type="subTitle" idx="1"/>
          </p:nvPr>
        </p:nvSpPr>
        <p:spPr>
          <a:xfrm>
            <a:off x="389467" y="3803385"/>
            <a:ext cx="8229600" cy="1141148"/>
          </a:xfrm>
        </p:spPr>
        <p:txBody>
          <a:bodyPr vert="horz" lIns="91440" tIns="45720" rIns="91440" bIns="45720" rtlCol="0" anchor="t">
            <a:normAutofit fontScale="92500"/>
          </a:bodyPr>
          <a:lstStyle/>
          <a:p>
            <a:pPr algn="l"/>
            <a:r>
              <a:rPr lang="en-BE" sz="4800">
                <a:solidFill>
                  <a:srgbClr val="0070C0"/>
                </a:solidFill>
                <a:latin typeface="Century Gothic"/>
              </a:rPr>
              <a:t>Introduction and Objectives</a:t>
            </a:r>
            <a:endParaRPr lang="fr-FR"/>
          </a:p>
        </p:txBody>
      </p:sp>
      <p:pic>
        <p:nvPicPr>
          <p:cNvPr id="4" name="Picture 3">
            <a:extLst>
              <a:ext uri="{FF2B5EF4-FFF2-40B4-BE49-F238E27FC236}">
                <a16:creationId xmlns:a16="http://schemas.microsoft.com/office/drawing/2014/main" id="{24704E50-FEA8-FDFA-5F98-A80F519E5B0D}"/>
              </a:ext>
            </a:extLst>
          </p:cNvPr>
          <p:cNvPicPr>
            <a:picLocks noChangeAspect="1"/>
          </p:cNvPicPr>
          <p:nvPr/>
        </p:nvPicPr>
        <p:blipFill>
          <a:blip r:embed="rId2"/>
          <a:stretch>
            <a:fillRect/>
          </a:stretch>
        </p:blipFill>
        <p:spPr>
          <a:xfrm>
            <a:off x="9042400" y="0"/>
            <a:ext cx="3149600" cy="635000"/>
          </a:xfrm>
          <a:prstGeom prst="rect">
            <a:avLst/>
          </a:prstGeom>
        </p:spPr>
      </p:pic>
    </p:spTree>
    <p:extLst>
      <p:ext uri="{BB962C8B-B14F-4D97-AF65-F5344CB8AC3E}">
        <p14:creationId xmlns:p14="http://schemas.microsoft.com/office/powerpoint/2010/main" val="2895974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F019BA-6F9D-B1E7-E70C-E6E37DB6D13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A0029B5A-58A8-2F3C-E59E-FD2005D3D063}"/>
              </a:ext>
            </a:extLst>
          </p:cNvPr>
          <p:cNvSpPr>
            <a:spLocks noGrp="1"/>
          </p:cNvSpPr>
          <p:nvPr>
            <p:ph type="subTitle" idx="1"/>
          </p:nvPr>
        </p:nvSpPr>
        <p:spPr>
          <a:xfrm>
            <a:off x="739998" y="550471"/>
            <a:ext cx="4036333" cy="1709849"/>
          </a:xfrm>
        </p:spPr>
        <p:txBody>
          <a:bodyPr vert="horz" lIns="91440" tIns="45720" rIns="91440" bIns="45720" rtlCol="0" anchor="b">
            <a:normAutofit/>
          </a:bodyPr>
          <a:lstStyle/>
          <a:p>
            <a:pPr algn="l"/>
            <a:r>
              <a:rPr lang="en-BE" b="1">
                <a:latin typeface="Century Gothic"/>
              </a:rPr>
              <a:t>Introduction </a:t>
            </a:r>
            <a:r>
              <a:rPr lang="en-US" b="1">
                <a:latin typeface="Century Gothic"/>
              </a:rPr>
              <a:t>&amp; Project Objectives</a:t>
            </a:r>
            <a:endParaRPr lang="fr-FR" b="1">
              <a:latin typeface="Century Gothic"/>
            </a:endParaRPr>
          </a:p>
        </p:txBody>
      </p:sp>
      <p:grpSp>
        <p:nvGrpSpPr>
          <p:cNvPr id="11" name="Group 10">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 1" descr="Une image contenant texte, carte, Police, capture d’écran&#10;&#10;Le contenu généré par l’IA peut être incorrect.">
            <a:extLst>
              <a:ext uri="{FF2B5EF4-FFF2-40B4-BE49-F238E27FC236}">
                <a16:creationId xmlns:a16="http://schemas.microsoft.com/office/drawing/2014/main" id="{A23B15D0-720C-1AB7-07BF-2A63C2BFDE4F}"/>
              </a:ext>
            </a:extLst>
          </p:cNvPr>
          <p:cNvPicPr>
            <a:picLocks noChangeAspect="1"/>
          </p:cNvPicPr>
          <p:nvPr/>
        </p:nvPicPr>
        <p:blipFill>
          <a:blip r:embed="rId3"/>
          <a:stretch>
            <a:fillRect/>
          </a:stretch>
        </p:blipFill>
        <p:spPr>
          <a:xfrm>
            <a:off x="6189893" y="666728"/>
            <a:ext cx="5001199" cy="5465791"/>
          </a:xfrm>
          <a:prstGeom prst="rect">
            <a:avLst/>
          </a:prstGeom>
        </p:spPr>
      </p:pic>
      <p:pic>
        <p:nvPicPr>
          <p:cNvPr id="4" name="Picture 3">
            <a:extLst>
              <a:ext uri="{FF2B5EF4-FFF2-40B4-BE49-F238E27FC236}">
                <a16:creationId xmlns:a16="http://schemas.microsoft.com/office/drawing/2014/main" id="{393E051F-D855-1028-639C-BD77EED501BA}"/>
              </a:ext>
            </a:extLst>
          </p:cNvPr>
          <p:cNvPicPr>
            <a:picLocks noChangeAspect="1"/>
          </p:cNvPicPr>
          <p:nvPr/>
        </p:nvPicPr>
        <p:blipFill>
          <a:blip r:embed="rId4"/>
          <a:stretch>
            <a:fillRect/>
          </a:stretch>
        </p:blipFill>
        <p:spPr>
          <a:xfrm>
            <a:off x="10106324" y="35943"/>
            <a:ext cx="2085676" cy="383397"/>
          </a:xfrm>
          <a:prstGeom prst="rect">
            <a:avLst/>
          </a:prstGeom>
        </p:spPr>
      </p:pic>
      <p:sp>
        <p:nvSpPr>
          <p:cNvPr id="6" name="ZoneTexte 5">
            <a:extLst>
              <a:ext uri="{FF2B5EF4-FFF2-40B4-BE49-F238E27FC236}">
                <a16:creationId xmlns:a16="http://schemas.microsoft.com/office/drawing/2014/main" id="{8D100477-340C-6592-1CD8-A0099BCD8B76}"/>
              </a:ext>
            </a:extLst>
          </p:cNvPr>
          <p:cNvSpPr txBox="1"/>
          <p:nvPr/>
        </p:nvSpPr>
        <p:spPr>
          <a:xfrm>
            <a:off x="918234" y="2984740"/>
            <a:ext cx="4255698"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000" err="1">
                <a:ea typeface="+mn-lt"/>
                <a:cs typeface="+mn-lt"/>
              </a:rPr>
              <a:t>MobilityTwin.Brussels</a:t>
            </a:r>
            <a:endParaRPr lang="en-GB" sz="2000">
              <a:ea typeface="+mn-lt"/>
              <a:cs typeface="+mn-lt"/>
            </a:endParaRPr>
          </a:p>
          <a:p>
            <a:pPr marL="285750" indent="-285750">
              <a:buFont typeface="Wingdings"/>
              <a:buChar char="Ø"/>
            </a:pPr>
            <a:endParaRPr lang="en-GB" sz="2000"/>
          </a:p>
          <a:p>
            <a:r>
              <a:rPr lang="en-GB" sz="2000">
                <a:ea typeface="+mn-lt"/>
                <a:cs typeface="+mn-lt"/>
              </a:rPr>
              <a:t>ULB Research Platform</a:t>
            </a:r>
          </a:p>
          <a:p>
            <a:r>
              <a:rPr lang="en-GB" sz="2000">
                <a:ea typeface="+mn-lt"/>
                <a:cs typeface="+mn-lt"/>
              </a:rPr>
              <a:t>Aggregating mobility data for Brussels</a:t>
            </a:r>
          </a:p>
          <a:p>
            <a:endParaRPr lang="en-GB" sz="2000">
              <a:ea typeface="+mn-lt"/>
              <a:cs typeface="+mn-lt"/>
            </a:endParaRPr>
          </a:p>
          <a:p>
            <a:pPr marL="285750" indent="-285750">
              <a:buFont typeface="Wingdings"/>
              <a:buChar char="Ø"/>
            </a:pPr>
            <a:r>
              <a:rPr lang="en-GB" sz="2000">
                <a:ea typeface="+mn-lt"/>
                <a:cs typeface="+mn-lt"/>
              </a:rPr>
              <a:t>+10 data sources: STIB, SNCB, Infrabel, Lime, Bolt, TEC...</a:t>
            </a:r>
          </a:p>
          <a:p>
            <a:pPr marL="285750" indent="-285750">
              <a:buFont typeface="Wingdings"/>
              <a:buChar char="Ø"/>
            </a:pPr>
            <a:r>
              <a:rPr lang="en-GB" sz="2000"/>
              <a:t>+</a:t>
            </a:r>
            <a:r>
              <a:rPr lang="en-GB" sz="2000">
                <a:ea typeface="+mn-lt"/>
                <a:cs typeface="+mn-lt"/>
              </a:rPr>
              <a:t>4 TB of data collected since 20233</a:t>
            </a:r>
            <a:endParaRPr lang="en-GB" sz="2000"/>
          </a:p>
          <a:p>
            <a:pPr marL="285750" indent="-285750">
              <a:buFont typeface="Wingdings"/>
              <a:buChar char="Ø"/>
            </a:pPr>
            <a:r>
              <a:rPr lang="en-GB" sz="2000">
                <a:ea typeface="+mn-lt"/>
                <a:cs typeface="+mn-lt"/>
              </a:rPr>
              <a:t> Unified API: real-time + histo</a:t>
            </a:r>
            <a:r>
              <a:rPr lang="en-GB" sz="2000"/>
              <a:t>rical</a:t>
            </a:r>
          </a:p>
        </p:txBody>
      </p:sp>
    </p:spTree>
    <p:extLst>
      <p:ext uri="{BB962C8B-B14F-4D97-AF65-F5344CB8AC3E}">
        <p14:creationId xmlns:p14="http://schemas.microsoft.com/office/powerpoint/2010/main" val="4074383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F0560C-9A60-F06E-2900-D7DFCA5C245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F789F10-6AA2-D8F5-3C36-5AD2260E0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CC5C28DC-911C-7C96-8324-C2DB6A4E1D72}"/>
              </a:ext>
            </a:extLst>
          </p:cNvPr>
          <p:cNvSpPr>
            <a:spLocks noGrp="1"/>
          </p:cNvSpPr>
          <p:nvPr>
            <p:ph type="subTitle" idx="1"/>
          </p:nvPr>
        </p:nvSpPr>
        <p:spPr>
          <a:xfrm>
            <a:off x="739998" y="550471"/>
            <a:ext cx="4036333" cy="1709849"/>
          </a:xfrm>
        </p:spPr>
        <p:txBody>
          <a:bodyPr vert="horz" lIns="91440" tIns="45720" rIns="91440" bIns="45720" rtlCol="0" anchor="b">
            <a:normAutofit/>
          </a:bodyPr>
          <a:lstStyle/>
          <a:p>
            <a:pPr algn="l"/>
            <a:r>
              <a:rPr lang="fr-FR" sz="2800" b="1">
                <a:solidFill>
                  <a:srgbClr val="222C31"/>
                </a:solidFill>
                <a:highlight>
                  <a:srgbClr val="FFFFFF"/>
                </a:highlight>
                <a:latin typeface="Century Gothic"/>
                <a:ea typeface="Roboto"/>
                <a:cs typeface="Roboto"/>
              </a:rPr>
              <a:t>The </a:t>
            </a:r>
            <a:r>
              <a:rPr lang="fr-FR" sz="2800" b="1" err="1">
                <a:solidFill>
                  <a:srgbClr val="222C31"/>
                </a:solidFill>
                <a:highlight>
                  <a:srgbClr val="FFFFFF"/>
                </a:highlight>
                <a:latin typeface="Century Gothic"/>
                <a:ea typeface="Roboto"/>
                <a:cs typeface="Roboto"/>
              </a:rPr>
              <a:t>problem</a:t>
            </a:r>
            <a:r>
              <a:rPr lang="fr-FR" sz="2800" b="1">
                <a:solidFill>
                  <a:srgbClr val="222C31"/>
                </a:solidFill>
                <a:highlight>
                  <a:srgbClr val="FFFFFF"/>
                </a:highlight>
                <a:latin typeface="Century Gothic"/>
                <a:ea typeface="Roboto"/>
                <a:cs typeface="Roboto"/>
              </a:rPr>
              <a:t> </a:t>
            </a:r>
            <a:r>
              <a:rPr lang="fr-FR" sz="2800" b="1" err="1">
                <a:solidFill>
                  <a:srgbClr val="222C31"/>
                </a:solidFill>
                <a:highlight>
                  <a:srgbClr val="FFFFFF"/>
                </a:highlight>
                <a:latin typeface="Century Gothic"/>
                <a:ea typeface="Roboto"/>
                <a:cs typeface="Roboto"/>
              </a:rPr>
              <a:t>identified</a:t>
            </a:r>
            <a:endParaRPr lang="fr-FR" sz="2800" b="1" err="1">
              <a:latin typeface="Century Gothic"/>
            </a:endParaRPr>
          </a:p>
        </p:txBody>
      </p:sp>
      <p:grpSp>
        <p:nvGrpSpPr>
          <p:cNvPr id="11" name="Group 10">
            <a:extLst>
              <a:ext uri="{FF2B5EF4-FFF2-40B4-BE49-F238E27FC236}">
                <a16:creationId xmlns:a16="http://schemas.microsoft.com/office/drawing/2014/main" id="{AFE75AC6-240C-D58C-DCBA-B2F7302F4F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7ED7DA22-D77C-D110-AA59-C8269C0CE9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80527E-CDE3-02A1-85DC-F973D4803F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5487273-BCB0-E8EB-1938-078C61A02A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6A80225C-12F6-EA79-70F3-5704B55832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D2FCFF3-E487-F2CC-1C4C-48CDCB2E5E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41BB541-628C-2EA5-DC17-7B6367A5682C}"/>
              </a:ext>
            </a:extLst>
          </p:cNvPr>
          <p:cNvPicPr>
            <a:picLocks noChangeAspect="1"/>
          </p:cNvPicPr>
          <p:nvPr/>
        </p:nvPicPr>
        <p:blipFill>
          <a:blip r:embed="rId3"/>
          <a:stretch>
            <a:fillRect/>
          </a:stretch>
        </p:blipFill>
        <p:spPr>
          <a:xfrm>
            <a:off x="10106324" y="8729"/>
            <a:ext cx="2085676" cy="383397"/>
          </a:xfrm>
          <a:prstGeom prst="rect">
            <a:avLst/>
          </a:prstGeom>
        </p:spPr>
      </p:pic>
      <p:sp>
        <p:nvSpPr>
          <p:cNvPr id="6" name="ZoneTexte 5">
            <a:extLst>
              <a:ext uri="{FF2B5EF4-FFF2-40B4-BE49-F238E27FC236}">
                <a16:creationId xmlns:a16="http://schemas.microsoft.com/office/drawing/2014/main" id="{F83C6689-B640-4BA1-8EB2-E0BFE20F264E}"/>
              </a:ext>
            </a:extLst>
          </p:cNvPr>
          <p:cNvSpPr txBox="1"/>
          <p:nvPr/>
        </p:nvSpPr>
        <p:spPr>
          <a:xfrm>
            <a:off x="901905" y="2984740"/>
            <a:ext cx="4576826"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a:ea typeface="+mn-lt"/>
                <a:cs typeface="+mn-lt"/>
              </a:rPr>
              <a:t>The problem :Why delay the display?</a:t>
            </a:r>
          </a:p>
          <a:p>
            <a:endParaRPr lang="en-GB" sz="2000"/>
          </a:p>
          <a:p>
            <a:r>
              <a:rPr lang="en-GB" sz="2000">
                <a:solidFill>
                  <a:srgbClr val="222C31"/>
                </a:solidFill>
                <a:highlight>
                  <a:srgbClr val="FFFFFF"/>
                </a:highlight>
                <a:latin typeface="Century Gothic"/>
                <a:ea typeface="Roboto"/>
                <a:cs typeface="Roboto"/>
              </a:rPr>
              <a:t>The Infrabel daily report offers a limited analytical value in isolation.</a:t>
            </a:r>
            <a:r>
              <a:rPr lang="en-GB" sz="2000">
                <a:ea typeface="+mn-lt"/>
                <a:cs typeface="+mn-lt"/>
              </a:rPr>
              <a:t> </a:t>
            </a:r>
            <a:endParaRPr lang="en-GB"/>
          </a:p>
          <a:p>
            <a:endParaRPr lang="en-GB" sz="2000" b="1"/>
          </a:p>
          <a:p>
            <a:r>
              <a:rPr lang="en-GB" sz="2000" b="1">
                <a:ea typeface="+mn-lt"/>
                <a:cs typeface="+mn-lt"/>
              </a:rPr>
              <a:t>Our approach:</a:t>
            </a:r>
            <a:r>
              <a:rPr lang="en-GB" sz="2000" b="1"/>
              <a:t> </a:t>
            </a:r>
            <a:endParaRPr lang="en-GB" b="1"/>
          </a:p>
          <a:p>
            <a:endParaRPr lang="en-GB" sz="2000"/>
          </a:p>
          <a:p>
            <a:r>
              <a:rPr lang="en-GB" sz="2000">
                <a:solidFill>
                  <a:srgbClr val="222C31"/>
                </a:solidFill>
                <a:highlight>
                  <a:srgbClr val="FFFFFF"/>
                </a:highlight>
                <a:latin typeface="Century Gothic"/>
                <a:ea typeface="Roboto"/>
                <a:cs typeface="Roboto"/>
              </a:rPr>
              <a:t>Aggregate 43 days of data to reveal invisible trends in everyday life.</a:t>
            </a:r>
            <a:r>
              <a:rPr lang="en-GB" sz="2000"/>
              <a:t> </a:t>
            </a:r>
            <a:endParaRPr lang="en-GB"/>
          </a:p>
        </p:txBody>
      </p:sp>
      <p:sp>
        <p:nvSpPr>
          <p:cNvPr id="5" name="ZoneTexte 4">
            <a:extLst>
              <a:ext uri="{FF2B5EF4-FFF2-40B4-BE49-F238E27FC236}">
                <a16:creationId xmlns:a16="http://schemas.microsoft.com/office/drawing/2014/main" id="{92772F19-F544-97DD-0FF2-16C085F0699B}"/>
              </a:ext>
            </a:extLst>
          </p:cNvPr>
          <p:cNvSpPr txBox="1"/>
          <p:nvPr/>
        </p:nvSpPr>
        <p:spPr>
          <a:xfrm>
            <a:off x="6495142" y="1003300"/>
            <a:ext cx="494876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b="1">
                <a:ea typeface="+mn-lt"/>
                <a:cs typeface="+mn-lt"/>
              </a:rPr>
              <a:t>Daily report : Just one </a:t>
            </a:r>
            <a:r>
              <a:rPr lang="fr-FR" sz="2000" b="1" err="1">
                <a:ea typeface="+mn-lt"/>
                <a:cs typeface="+mn-lt"/>
              </a:rPr>
              <a:t>day</a:t>
            </a:r>
            <a:r>
              <a:rPr lang="fr-FR" sz="2000" b="1">
                <a:ea typeface="+mn-lt"/>
                <a:cs typeface="+mn-lt"/>
              </a:rPr>
              <a:t>: 8 May 2026</a:t>
            </a:r>
            <a:endParaRPr lang="fr-FR"/>
          </a:p>
        </p:txBody>
      </p:sp>
      <p:sp>
        <p:nvSpPr>
          <p:cNvPr id="7" name="ZoneTexte 6">
            <a:extLst>
              <a:ext uri="{FF2B5EF4-FFF2-40B4-BE49-F238E27FC236}">
                <a16:creationId xmlns:a16="http://schemas.microsoft.com/office/drawing/2014/main" id="{E4A95C0C-9901-3043-B7A7-33D8C814705A}"/>
              </a:ext>
            </a:extLst>
          </p:cNvPr>
          <p:cNvSpPr txBox="1"/>
          <p:nvPr/>
        </p:nvSpPr>
        <p:spPr>
          <a:xfrm>
            <a:off x="6501190" y="1520370"/>
            <a:ext cx="4764314" cy="1631216"/>
          </a:xfrm>
          <a:prstGeom prst="rect">
            <a:avLst/>
          </a:prstGeom>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a:ea typeface="+mn-lt"/>
                <a:cs typeface="+mn-lt"/>
              </a:rPr>
              <a:t>67,000 </a:t>
            </a:r>
            <a:r>
              <a:rPr lang="fr-FR" sz="2000" err="1">
                <a:ea typeface="+mn-lt"/>
                <a:cs typeface="+mn-lt"/>
              </a:rPr>
              <a:t>arrivals</a:t>
            </a:r>
            <a:r>
              <a:rPr lang="fr-FR" sz="2000">
                <a:ea typeface="+mn-lt"/>
                <a:cs typeface="+mn-lt"/>
              </a:rPr>
              <a:t> </a:t>
            </a:r>
            <a:endParaRPr lang="fr-FR" sz="2000"/>
          </a:p>
          <a:p>
            <a:endParaRPr lang="fr-FR" sz="2000"/>
          </a:p>
          <a:p>
            <a:r>
              <a:rPr lang="fr-FR" sz="2000" err="1">
                <a:ea typeface="+mn-lt"/>
                <a:cs typeface="+mn-lt"/>
              </a:rPr>
              <a:t>Average</a:t>
            </a:r>
            <a:r>
              <a:rPr lang="fr-FR" sz="2000">
                <a:ea typeface="+mn-lt"/>
                <a:cs typeface="+mn-lt"/>
              </a:rPr>
              <a:t> </a:t>
            </a:r>
            <a:r>
              <a:rPr lang="fr-FR" sz="2000" err="1">
                <a:ea typeface="+mn-lt"/>
                <a:cs typeface="+mn-lt"/>
              </a:rPr>
              <a:t>delay</a:t>
            </a:r>
            <a:r>
              <a:rPr lang="fr-FR" sz="2000">
                <a:ea typeface="+mn-lt"/>
                <a:cs typeface="+mn-lt"/>
              </a:rPr>
              <a:t>: 1.69 mins </a:t>
            </a:r>
            <a:endParaRPr lang="fr-FR" sz="2000"/>
          </a:p>
          <a:p>
            <a:endParaRPr lang="fr-FR" sz="2000"/>
          </a:p>
          <a:p>
            <a:r>
              <a:rPr lang="fr-FR" sz="2000">
                <a:ea typeface="+mn-lt"/>
                <a:cs typeface="+mn-lt"/>
              </a:rPr>
              <a:t>           </a:t>
            </a:r>
            <a:r>
              <a:rPr lang="fr-FR" sz="2000" err="1">
                <a:ea typeface="+mn-lt"/>
                <a:cs typeface="+mn-lt"/>
              </a:rPr>
              <a:t>Unable</a:t>
            </a:r>
            <a:r>
              <a:rPr lang="fr-FR" sz="2000">
                <a:ea typeface="+mn-lt"/>
                <a:cs typeface="+mn-lt"/>
              </a:rPr>
              <a:t> to </a:t>
            </a:r>
            <a:r>
              <a:rPr lang="fr-FR" sz="2000" err="1">
                <a:ea typeface="+mn-lt"/>
                <a:cs typeface="+mn-lt"/>
              </a:rPr>
              <a:t>draw</a:t>
            </a:r>
            <a:r>
              <a:rPr lang="fr-FR" sz="2000">
                <a:ea typeface="+mn-lt"/>
                <a:cs typeface="+mn-lt"/>
              </a:rPr>
              <a:t> a conclusion</a:t>
            </a:r>
            <a:endParaRPr lang="fr-FR" sz="2000"/>
          </a:p>
        </p:txBody>
      </p:sp>
      <p:sp>
        <p:nvSpPr>
          <p:cNvPr id="8" name="ZoneTexte 7">
            <a:extLst>
              <a:ext uri="{FF2B5EF4-FFF2-40B4-BE49-F238E27FC236}">
                <a16:creationId xmlns:a16="http://schemas.microsoft.com/office/drawing/2014/main" id="{21AB4E04-8659-D497-3D2B-07C8FB319147}"/>
              </a:ext>
            </a:extLst>
          </p:cNvPr>
          <p:cNvSpPr txBox="1"/>
          <p:nvPr/>
        </p:nvSpPr>
        <p:spPr>
          <a:xfrm>
            <a:off x="6506028" y="3659414"/>
            <a:ext cx="338666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b="1">
                <a:ea typeface="+mn-lt"/>
                <a:cs typeface="+mn-lt"/>
              </a:rPr>
              <a:t>A total of 43 </a:t>
            </a:r>
            <a:r>
              <a:rPr lang="fr-FR" sz="2000" b="1" err="1">
                <a:ea typeface="+mn-lt"/>
                <a:cs typeface="+mn-lt"/>
              </a:rPr>
              <a:t>days</a:t>
            </a:r>
            <a:r>
              <a:rPr lang="fr-FR" sz="2000" b="1">
                <a:ea typeface="+mn-lt"/>
                <a:cs typeface="+mn-lt"/>
              </a:rPr>
              <a:t> </a:t>
            </a:r>
            <a:r>
              <a:rPr lang="fr-FR" sz="2000" b="1" err="1">
                <a:ea typeface="+mn-lt"/>
                <a:cs typeface="+mn-lt"/>
              </a:rPr>
              <a:t>reveal</a:t>
            </a:r>
            <a:r>
              <a:rPr lang="fr-FR" sz="2000" b="1">
                <a:ea typeface="+mn-lt"/>
                <a:cs typeface="+mn-lt"/>
              </a:rPr>
              <a:t>: </a:t>
            </a:r>
          </a:p>
        </p:txBody>
      </p:sp>
      <p:sp>
        <p:nvSpPr>
          <p:cNvPr id="10" name="ZoneTexte 9">
            <a:extLst>
              <a:ext uri="{FF2B5EF4-FFF2-40B4-BE49-F238E27FC236}">
                <a16:creationId xmlns:a16="http://schemas.microsoft.com/office/drawing/2014/main" id="{9897B187-3260-C594-FC8C-3F3989D89096}"/>
              </a:ext>
            </a:extLst>
          </p:cNvPr>
          <p:cNvSpPr txBox="1"/>
          <p:nvPr/>
        </p:nvSpPr>
        <p:spPr>
          <a:xfrm>
            <a:off x="6506633" y="4160156"/>
            <a:ext cx="4758871" cy="2246769"/>
          </a:xfrm>
          <a:prstGeom prst="rect">
            <a:avLst/>
          </a:prstGeom>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a:ea typeface="+mn-lt"/>
                <a:cs typeface="+mn-lt"/>
              </a:rPr>
              <a:t>🗺️ </a:t>
            </a:r>
            <a:r>
              <a:rPr lang="fr-FR" sz="2000" err="1">
                <a:ea typeface="+mn-lt"/>
                <a:cs typeface="+mn-lt"/>
              </a:rPr>
              <a:t>Beverlo</a:t>
            </a:r>
            <a:r>
              <a:rPr lang="fr-FR" sz="2000">
                <a:ea typeface="+mn-lt"/>
                <a:cs typeface="+mn-lt"/>
              </a:rPr>
              <a:t>: 8 mins </a:t>
            </a:r>
            <a:r>
              <a:rPr lang="fr-FR" sz="2000" err="1">
                <a:ea typeface="+mn-lt"/>
                <a:cs typeface="+mn-lt"/>
              </a:rPr>
              <a:t>late</a:t>
            </a:r>
            <a:r>
              <a:rPr lang="fr-FR" sz="2000">
                <a:ea typeface="+mn-lt"/>
                <a:cs typeface="+mn-lt"/>
              </a:rPr>
              <a:t> </a:t>
            </a:r>
            <a:endParaRPr lang="fr-FR" sz="2000"/>
          </a:p>
          <a:p>
            <a:endParaRPr lang="fr-FR" sz="2000"/>
          </a:p>
          <a:p>
            <a:endParaRPr lang="fr-FR" sz="2000"/>
          </a:p>
          <a:p>
            <a:r>
              <a:rPr lang="fr-FR" sz="2000">
                <a:ea typeface="+mn-lt"/>
                <a:cs typeface="+mn-lt"/>
              </a:rPr>
              <a:t>🚆 Train 475: 72% </a:t>
            </a:r>
            <a:r>
              <a:rPr lang="fr-FR" sz="2000" err="1">
                <a:ea typeface="+mn-lt"/>
                <a:cs typeface="+mn-lt"/>
              </a:rPr>
              <a:t>late</a:t>
            </a:r>
            <a:r>
              <a:rPr lang="fr-FR" sz="2000">
                <a:ea typeface="+mn-lt"/>
                <a:cs typeface="+mn-lt"/>
              </a:rPr>
              <a:t> </a:t>
            </a:r>
            <a:endParaRPr lang="fr-FR" sz="2000"/>
          </a:p>
          <a:p>
            <a:endParaRPr lang="fr-FR" sz="2000"/>
          </a:p>
          <a:p>
            <a:endParaRPr lang="fr-FR" sz="2000"/>
          </a:p>
          <a:p>
            <a:r>
              <a:rPr lang="fr-FR" sz="2000">
                <a:ea typeface="+mn-lt"/>
                <a:cs typeface="+mn-lt"/>
              </a:rPr>
              <a:t>🕐 Peak at 5 pm</a:t>
            </a:r>
            <a:endParaRPr lang="fr-FR" sz="2000"/>
          </a:p>
        </p:txBody>
      </p:sp>
      <p:sp>
        <p:nvSpPr>
          <p:cNvPr id="17" name="Flèche : bas 16">
            <a:extLst>
              <a:ext uri="{FF2B5EF4-FFF2-40B4-BE49-F238E27FC236}">
                <a16:creationId xmlns:a16="http://schemas.microsoft.com/office/drawing/2014/main" id="{B90341AB-145C-4490-6BF5-6AA44F81EF58}"/>
              </a:ext>
            </a:extLst>
          </p:cNvPr>
          <p:cNvSpPr/>
          <p:nvPr/>
        </p:nvSpPr>
        <p:spPr>
          <a:xfrm>
            <a:off x="8473923" y="3222776"/>
            <a:ext cx="220133" cy="4064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9" name="Connecteur droit avec flèche 18">
            <a:extLst>
              <a:ext uri="{FF2B5EF4-FFF2-40B4-BE49-F238E27FC236}">
                <a16:creationId xmlns:a16="http://schemas.microsoft.com/office/drawing/2014/main" id="{C1968EFB-EBC1-D60D-A48A-023349E1398C}"/>
              </a:ext>
            </a:extLst>
          </p:cNvPr>
          <p:cNvCxnSpPr/>
          <p:nvPr/>
        </p:nvCxnSpPr>
        <p:spPr>
          <a:xfrm>
            <a:off x="6677176" y="2928256"/>
            <a:ext cx="535818" cy="30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2152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CDA7BB-79E9-0593-F6C4-5D08C722CCC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8999D39-7B48-A5E9-C451-1D1CAEE75E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F26CF6C-ADD6-95E0-A616-EE7F4F5F7DFD}"/>
              </a:ext>
            </a:extLst>
          </p:cNvPr>
          <p:cNvSpPr>
            <a:spLocks noGrp="1"/>
          </p:cNvSpPr>
          <p:nvPr>
            <p:ph type="subTitle" idx="1"/>
          </p:nvPr>
        </p:nvSpPr>
        <p:spPr>
          <a:xfrm>
            <a:off x="739998" y="550471"/>
            <a:ext cx="4036333" cy="1709849"/>
          </a:xfrm>
        </p:spPr>
        <p:txBody>
          <a:bodyPr vert="horz" lIns="91440" tIns="45720" rIns="91440" bIns="45720" rtlCol="0" anchor="b">
            <a:normAutofit/>
          </a:bodyPr>
          <a:lstStyle/>
          <a:p>
            <a:pPr algn="l"/>
            <a:r>
              <a:rPr lang="en-US" b="1">
                <a:latin typeface="Century Gothic"/>
              </a:rPr>
              <a:t>Goal of the Project </a:t>
            </a:r>
          </a:p>
        </p:txBody>
      </p:sp>
      <p:grpSp>
        <p:nvGrpSpPr>
          <p:cNvPr id="11" name="Group 10">
            <a:extLst>
              <a:ext uri="{FF2B5EF4-FFF2-40B4-BE49-F238E27FC236}">
                <a16:creationId xmlns:a16="http://schemas.microsoft.com/office/drawing/2014/main" id="{480D0333-B8EA-A012-301A-2B687FA48B6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B020B706-FAF0-4BDD-1AF5-EF676DB98F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F56BFC5-9A42-92A8-FE96-3B04CCD0EF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1889768-EEAE-536C-026E-60766FFA27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903BC0E1-F52A-1724-908F-5922B0E951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B613C17-4624-F50B-FCD3-03609344A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A538E9F-FEB5-13B0-DB9F-2C1DDDB71C3B}"/>
              </a:ext>
            </a:extLst>
          </p:cNvPr>
          <p:cNvPicPr>
            <a:picLocks noChangeAspect="1"/>
          </p:cNvPicPr>
          <p:nvPr/>
        </p:nvPicPr>
        <p:blipFill>
          <a:blip r:embed="rId3"/>
          <a:stretch>
            <a:fillRect/>
          </a:stretch>
        </p:blipFill>
        <p:spPr>
          <a:xfrm>
            <a:off x="10106324" y="8729"/>
            <a:ext cx="2085676" cy="383397"/>
          </a:xfrm>
          <a:prstGeom prst="rect">
            <a:avLst/>
          </a:prstGeom>
        </p:spPr>
      </p:pic>
      <p:sp>
        <p:nvSpPr>
          <p:cNvPr id="6" name="ZoneTexte 5">
            <a:extLst>
              <a:ext uri="{FF2B5EF4-FFF2-40B4-BE49-F238E27FC236}">
                <a16:creationId xmlns:a16="http://schemas.microsoft.com/office/drawing/2014/main" id="{C5B1299E-0F92-20FF-1B67-6A0087FBA331}"/>
              </a:ext>
            </a:extLst>
          </p:cNvPr>
          <p:cNvSpPr txBox="1"/>
          <p:nvPr/>
        </p:nvSpPr>
        <p:spPr>
          <a:xfrm>
            <a:off x="901905" y="2984740"/>
            <a:ext cx="4576826"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a:ea typeface="+mn-lt"/>
                <a:cs typeface="+mn-lt"/>
              </a:rPr>
              <a:t>Our research questions ?</a:t>
            </a:r>
            <a:endParaRPr lang="fr-FR"/>
          </a:p>
          <a:p>
            <a:endParaRPr lang="en-GB" sz="2000"/>
          </a:p>
          <a:p>
            <a:r>
              <a:rPr lang="en-GB" sz="2000">
                <a:solidFill>
                  <a:srgbClr val="222C31"/>
                </a:solidFill>
                <a:highlight>
                  <a:srgbClr val="FFFFFF"/>
                </a:highlight>
                <a:ea typeface="+mn-lt"/>
                <a:cs typeface="+mn-lt"/>
              </a:rPr>
              <a:t>Four questions guided our analysis as a whole</a:t>
            </a:r>
            <a:r>
              <a:rPr lang="en-GB" sz="2000">
                <a:solidFill>
                  <a:srgbClr val="222C31"/>
                </a:solidFill>
                <a:highlight>
                  <a:srgbClr val="FFFFFF"/>
                </a:highlight>
                <a:ea typeface="Roboto"/>
                <a:cs typeface="Roboto"/>
              </a:rPr>
              <a:t> </a:t>
            </a:r>
            <a:r>
              <a:rPr lang="en-GB" sz="2000">
                <a:ea typeface="+mn-lt"/>
                <a:cs typeface="+mn-lt"/>
              </a:rPr>
              <a:t> </a:t>
            </a:r>
            <a:endParaRPr lang="en-GB"/>
          </a:p>
          <a:p>
            <a:endParaRPr lang="en-GB" sz="2000" b="1"/>
          </a:p>
          <a:p>
            <a:pPr marL="285750" indent="-285750">
              <a:buFont typeface="Wingdings"/>
              <a:buChar char="Ø"/>
            </a:pPr>
            <a:r>
              <a:rPr lang="en-GB" sz="2000"/>
              <a:t>+ 470000 </a:t>
            </a:r>
            <a:r>
              <a:rPr lang="en-GB" sz="2000">
                <a:solidFill>
                  <a:srgbClr val="222C31"/>
                </a:solidFill>
                <a:highlight>
                  <a:srgbClr val="FFFFFF"/>
                </a:highlight>
                <a:latin typeface="Century Gothic"/>
                <a:ea typeface="Roboto"/>
                <a:cs typeface="Roboto"/>
              </a:rPr>
              <a:t>arrived </a:t>
            </a:r>
            <a:r>
              <a:rPr lang="en-GB" sz="2000" err="1">
                <a:solidFill>
                  <a:srgbClr val="222C31"/>
                </a:solidFill>
                <a:highlight>
                  <a:srgbClr val="FFFFFF"/>
                </a:highlight>
                <a:latin typeface="Century Gothic"/>
                <a:ea typeface="Roboto"/>
                <a:cs typeface="Roboto"/>
              </a:rPr>
              <a:t>analyzed</a:t>
            </a:r>
            <a:endParaRPr lang="en-GB" sz="2000" err="1">
              <a:latin typeface="Century Gothic"/>
            </a:endParaRPr>
          </a:p>
          <a:p>
            <a:pPr marL="285750" indent="-285750">
              <a:buFont typeface="Wingdings"/>
              <a:buChar char="Ø"/>
            </a:pPr>
            <a:endParaRPr lang="en-GB" sz="2000"/>
          </a:p>
          <a:p>
            <a:pPr marL="285750" indent="-285750">
              <a:buFont typeface="Wingdings"/>
              <a:buChar char="Ø"/>
            </a:pPr>
            <a:r>
              <a:rPr lang="en-GB" sz="2000"/>
              <a:t>447 stations</a:t>
            </a:r>
          </a:p>
          <a:p>
            <a:pPr marL="285750" indent="-285750">
              <a:buFont typeface="Wingdings"/>
              <a:buChar char="Ø"/>
            </a:pPr>
            <a:endParaRPr lang="en-GB" sz="2000"/>
          </a:p>
          <a:p>
            <a:pPr marL="285750" indent="-285750">
              <a:buFont typeface="Wingdings"/>
              <a:buChar char="Ø"/>
            </a:pPr>
            <a:r>
              <a:rPr lang="en-GB" sz="2000"/>
              <a:t>103 lines</a:t>
            </a:r>
          </a:p>
          <a:p>
            <a:pPr marL="285750" indent="-285750">
              <a:buFont typeface="Wingdings"/>
              <a:buChar char="Ø"/>
            </a:pPr>
            <a:endParaRPr lang="en-GB" sz="2000"/>
          </a:p>
          <a:p>
            <a:pPr marL="285750" indent="-285750">
              <a:buFont typeface="Wingdings"/>
              <a:buChar char="Ø"/>
            </a:pPr>
            <a:r>
              <a:rPr lang="en-GB" sz="2000"/>
              <a:t>43 days</a:t>
            </a:r>
            <a:r>
              <a:rPr lang="en-GB"/>
              <a:t> </a:t>
            </a:r>
          </a:p>
        </p:txBody>
      </p:sp>
      <p:sp>
        <p:nvSpPr>
          <p:cNvPr id="7" name="ZoneTexte 6">
            <a:extLst>
              <a:ext uri="{FF2B5EF4-FFF2-40B4-BE49-F238E27FC236}">
                <a16:creationId xmlns:a16="http://schemas.microsoft.com/office/drawing/2014/main" id="{2C3E1656-5ED0-2DB3-ED8A-36235D328A6C}"/>
              </a:ext>
            </a:extLst>
          </p:cNvPr>
          <p:cNvSpPr txBox="1"/>
          <p:nvPr/>
        </p:nvSpPr>
        <p:spPr>
          <a:xfrm>
            <a:off x="6354236" y="1172032"/>
            <a:ext cx="1950353" cy="2308324"/>
          </a:xfrm>
          <a:prstGeom prst="rect">
            <a:avLst/>
          </a:prstGeom>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a:ea typeface="+mn-lt"/>
                <a:cs typeface="+mn-lt"/>
              </a:rPr>
              <a:t>🗺️ Q1:</a:t>
            </a:r>
            <a:endParaRPr lang="fr-FR" sz="2400"/>
          </a:p>
          <a:p>
            <a:pPr algn="ctr"/>
            <a:endParaRPr lang="fr-FR" sz="2400">
              <a:ea typeface="+mn-lt"/>
              <a:cs typeface="+mn-lt"/>
            </a:endParaRPr>
          </a:p>
          <a:p>
            <a:pPr algn="ctr"/>
            <a:r>
              <a:rPr lang="fr-FR" sz="2400" err="1">
                <a:ea typeface="+mn-lt"/>
                <a:cs typeface="+mn-lt"/>
              </a:rPr>
              <a:t>Which</a:t>
            </a:r>
            <a:r>
              <a:rPr lang="fr-FR" sz="2400">
                <a:ea typeface="+mn-lt"/>
                <a:cs typeface="+mn-lt"/>
              </a:rPr>
              <a:t> stations are the </a:t>
            </a:r>
            <a:r>
              <a:rPr lang="fr-FR" sz="2400" err="1">
                <a:ea typeface="+mn-lt"/>
                <a:cs typeface="+mn-lt"/>
              </a:rPr>
              <a:t>worst</a:t>
            </a:r>
            <a:r>
              <a:rPr lang="fr-FR" sz="2400">
                <a:ea typeface="+mn-lt"/>
                <a:cs typeface="+mn-lt"/>
              </a:rPr>
              <a:t> </a:t>
            </a:r>
            <a:r>
              <a:rPr lang="fr-FR" sz="2400" err="1">
                <a:ea typeface="+mn-lt"/>
                <a:cs typeface="+mn-lt"/>
              </a:rPr>
              <a:t>affected</a:t>
            </a:r>
            <a:r>
              <a:rPr lang="fr-FR" sz="2400">
                <a:ea typeface="+mn-lt"/>
                <a:cs typeface="+mn-lt"/>
              </a:rPr>
              <a:t>? </a:t>
            </a:r>
            <a:endParaRPr lang="fr-FR" sz="2400"/>
          </a:p>
        </p:txBody>
      </p:sp>
      <p:sp>
        <p:nvSpPr>
          <p:cNvPr id="10" name="ZoneTexte 9">
            <a:extLst>
              <a:ext uri="{FF2B5EF4-FFF2-40B4-BE49-F238E27FC236}">
                <a16:creationId xmlns:a16="http://schemas.microsoft.com/office/drawing/2014/main" id="{07605B01-D0C5-E046-C97B-3A91074B8E7C}"/>
              </a:ext>
            </a:extLst>
          </p:cNvPr>
          <p:cNvSpPr txBox="1"/>
          <p:nvPr/>
        </p:nvSpPr>
        <p:spPr>
          <a:xfrm>
            <a:off x="6354235" y="3724726"/>
            <a:ext cx="2015668" cy="2308324"/>
          </a:xfrm>
          <a:prstGeom prst="rect">
            <a:avLst/>
          </a:prstGeom>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400">
                <a:ea typeface="+mn-lt"/>
                <a:cs typeface="+mn-lt"/>
              </a:rPr>
              <a:t>🚆️  Q3:</a:t>
            </a:r>
          </a:p>
          <a:p>
            <a:endParaRPr lang="fr-FR" sz="2400"/>
          </a:p>
          <a:p>
            <a:r>
              <a:rPr lang="fr-FR" sz="2400" err="1">
                <a:ea typeface="+mn-lt"/>
                <a:cs typeface="+mn-lt"/>
              </a:rPr>
              <a:t>Which</a:t>
            </a:r>
            <a:r>
              <a:rPr lang="fr-FR" sz="2400">
                <a:ea typeface="+mn-lt"/>
                <a:cs typeface="+mn-lt"/>
              </a:rPr>
              <a:t> trains are </a:t>
            </a:r>
            <a:r>
              <a:rPr lang="fr-FR" sz="2400" err="1">
                <a:ea typeface="+mn-lt"/>
                <a:cs typeface="+mn-lt"/>
              </a:rPr>
              <a:t>frequently</a:t>
            </a:r>
            <a:r>
              <a:rPr lang="fr-FR" sz="2400">
                <a:ea typeface="+mn-lt"/>
                <a:cs typeface="+mn-lt"/>
              </a:rPr>
              <a:t> </a:t>
            </a:r>
            <a:r>
              <a:rPr lang="fr-FR" sz="2400" err="1">
                <a:ea typeface="+mn-lt"/>
                <a:cs typeface="+mn-lt"/>
              </a:rPr>
              <a:t>delayed</a:t>
            </a:r>
            <a:r>
              <a:rPr lang="fr-FR" sz="2400">
                <a:ea typeface="+mn-lt"/>
                <a:cs typeface="+mn-lt"/>
              </a:rPr>
              <a:t>?</a:t>
            </a:r>
            <a:r>
              <a:rPr lang="fr-FR" sz="2400"/>
              <a:t> </a:t>
            </a:r>
            <a:endParaRPr lang="fr-FR"/>
          </a:p>
        </p:txBody>
      </p:sp>
      <p:sp>
        <p:nvSpPr>
          <p:cNvPr id="2" name="ZoneTexte 1">
            <a:extLst>
              <a:ext uri="{FF2B5EF4-FFF2-40B4-BE49-F238E27FC236}">
                <a16:creationId xmlns:a16="http://schemas.microsoft.com/office/drawing/2014/main" id="{2C07337B-DF3E-05DC-E575-71C40D302422}"/>
              </a:ext>
            </a:extLst>
          </p:cNvPr>
          <p:cNvSpPr txBox="1"/>
          <p:nvPr/>
        </p:nvSpPr>
        <p:spPr>
          <a:xfrm>
            <a:off x="9445778" y="1133931"/>
            <a:ext cx="1966681" cy="2308324"/>
          </a:xfrm>
          <a:prstGeom prst="rect">
            <a:avLst/>
          </a:prstGeom>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000">
                <a:ea typeface="+mn-lt"/>
                <a:cs typeface="+mn-lt"/>
              </a:rPr>
              <a:t>🕐</a:t>
            </a:r>
            <a:r>
              <a:rPr lang="fr-FR" sz="2400">
                <a:ea typeface="+mn-lt"/>
                <a:cs typeface="+mn-lt"/>
              </a:rPr>
              <a:t>️ Q2:</a:t>
            </a:r>
            <a:endParaRPr lang="fr-FR" sz="2400"/>
          </a:p>
          <a:p>
            <a:pPr algn="ctr"/>
            <a:endParaRPr lang="fr-FR" sz="2400">
              <a:ea typeface="+mn-lt"/>
              <a:cs typeface="+mn-lt"/>
            </a:endParaRPr>
          </a:p>
          <a:p>
            <a:pPr algn="ctr"/>
            <a:r>
              <a:rPr lang="fr-FR" sz="2400" err="1">
                <a:ea typeface="+mn-lt"/>
                <a:cs typeface="+mn-lt"/>
              </a:rPr>
              <a:t>Which</a:t>
            </a:r>
            <a:r>
              <a:rPr lang="fr-FR" sz="2400">
                <a:ea typeface="+mn-lt"/>
                <a:cs typeface="+mn-lt"/>
              </a:rPr>
              <a:t> stations are the </a:t>
            </a:r>
            <a:r>
              <a:rPr lang="fr-FR" sz="2400" err="1">
                <a:ea typeface="+mn-lt"/>
                <a:cs typeface="+mn-lt"/>
              </a:rPr>
              <a:t>worst</a:t>
            </a:r>
            <a:r>
              <a:rPr lang="fr-FR" sz="2400">
                <a:ea typeface="+mn-lt"/>
                <a:cs typeface="+mn-lt"/>
              </a:rPr>
              <a:t> </a:t>
            </a:r>
            <a:r>
              <a:rPr lang="fr-FR" sz="2400" err="1">
                <a:ea typeface="+mn-lt"/>
                <a:cs typeface="+mn-lt"/>
              </a:rPr>
              <a:t>affected</a:t>
            </a:r>
            <a:r>
              <a:rPr lang="fr-FR" sz="2400">
                <a:ea typeface="+mn-lt"/>
                <a:cs typeface="+mn-lt"/>
              </a:rPr>
              <a:t>? </a:t>
            </a:r>
            <a:endParaRPr lang="fr-FR" sz="2400"/>
          </a:p>
        </p:txBody>
      </p:sp>
      <p:sp>
        <p:nvSpPr>
          <p:cNvPr id="15" name="ZoneTexte 14">
            <a:extLst>
              <a:ext uri="{FF2B5EF4-FFF2-40B4-BE49-F238E27FC236}">
                <a16:creationId xmlns:a16="http://schemas.microsoft.com/office/drawing/2014/main" id="{F35A42B3-D7E1-8CF7-8BFA-372FA809D1D0}"/>
              </a:ext>
            </a:extLst>
          </p:cNvPr>
          <p:cNvSpPr txBox="1"/>
          <p:nvPr/>
        </p:nvSpPr>
        <p:spPr>
          <a:xfrm>
            <a:off x="9445777" y="3713847"/>
            <a:ext cx="2091868" cy="1938992"/>
          </a:xfrm>
          <a:prstGeom prst="rect">
            <a:avLst/>
          </a:prstGeom>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a:ea typeface="+mn-lt"/>
                <a:cs typeface="+mn-lt"/>
              </a:rPr>
              <a:t>🗺️ Q4:</a:t>
            </a:r>
            <a:endParaRPr lang="fr-FR" sz="2400"/>
          </a:p>
          <a:p>
            <a:pPr algn="ctr"/>
            <a:endParaRPr lang="fr-FR" sz="2400">
              <a:ea typeface="+mn-lt"/>
              <a:cs typeface="+mn-lt"/>
            </a:endParaRPr>
          </a:p>
          <a:p>
            <a:pPr algn="ctr"/>
            <a:r>
              <a:rPr lang="fr-FR" sz="2400">
                <a:ea typeface="+mn-lt"/>
                <a:cs typeface="+mn-lt"/>
              </a:rPr>
              <a:t>How do </a:t>
            </a:r>
            <a:r>
              <a:rPr lang="fr-FR" sz="2400" err="1">
                <a:ea typeface="+mn-lt"/>
                <a:cs typeface="+mn-lt"/>
              </a:rPr>
              <a:t>disturbances</a:t>
            </a:r>
            <a:r>
              <a:rPr lang="fr-FR" sz="2400">
                <a:ea typeface="+mn-lt"/>
                <a:cs typeface="+mn-lt"/>
              </a:rPr>
              <a:t> </a:t>
            </a:r>
            <a:r>
              <a:rPr lang="fr-FR" sz="2400" err="1">
                <a:ea typeface="+mn-lt"/>
                <a:cs typeface="+mn-lt"/>
              </a:rPr>
              <a:t>propagate</a:t>
            </a:r>
            <a:r>
              <a:rPr lang="fr-FR" sz="2400">
                <a:ea typeface="+mn-lt"/>
                <a:cs typeface="+mn-lt"/>
              </a:rPr>
              <a:t>? </a:t>
            </a:r>
            <a:endParaRPr lang="fr-FR" sz="2400"/>
          </a:p>
        </p:txBody>
      </p:sp>
    </p:spTree>
    <p:extLst>
      <p:ext uri="{BB962C8B-B14F-4D97-AF65-F5344CB8AC3E}">
        <p14:creationId xmlns:p14="http://schemas.microsoft.com/office/powerpoint/2010/main" val="2275743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C0C0A-8E0A-B5AB-42A4-84826B5F663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56D96B4-4BB9-D8E4-B3F3-24A8B53BA929}"/>
              </a:ext>
            </a:extLst>
          </p:cNvPr>
          <p:cNvSpPr>
            <a:spLocks noGrp="1"/>
          </p:cNvSpPr>
          <p:nvPr>
            <p:ph type="subTitle" idx="1"/>
          </p:nvPr>
        </p:nvSpPr>
        <p:spPr>
          <a:xfrm>
            <a:off x="1230363" y="949751"/>
            <a:ext cx="8654142" cy="1168362"/>
          </a:xfrm>
        </p:spPr>
        <p:txBody>
          <a:bodyPr vert="horz" lIns="91440" tIns="45720" rIns="91440" bIns="45720" rtlCol="0" anchor="t">
            <a:normAutofit/>
          </a:bodyPr>
          <a:lstStyle/>
          <a:p>
            <a:r>
              <a:rPr lang="en-US" sz="3000" b="1">
                <a:solidFill>
                  <a:srgbClr val="000000"/>
                </a:solidFill>
                <a:latin typeface="Century Gothic"/>
                <a:ea typeface="Roboto"/>
                <a:cs typeface="Roboto"/>
              </a:rPr>
              <a:t>This </a:t>
            </a:r>
            <a:r>
              <a:rPr lang="en-US" sz="3000" b="1" err="1">
                <a:solidFill>
                  <a:srgbClr val="000000"/>
                </a:solidFill>
                <a:latin typeface="Century Gothic"/>
                <a:ea typeface="Roboto"/>
                <a:cs typeface="Roboto"/>
              </a:rPr>
              <a:t>visualisation</a:t>
            </a:r>
            <a:r>
              <a:rPr lang="en-US" sz="3000" b="1">
                <a:solidFill>
                  <a:srgbClr val="000000"/>
                </a:solidFill>
                <a:latin typeface="Century Gothic"/>
                <a:ea typeface="Roboto"/>
                <a:cs typeface="Roboto"/>
              </a:rPr>
              <a:t> might be helpful</a:t>
            </a:r>
            <a:endParaRPr lang="en-US" sz="3000">
              <a:solidFill>
                <a:srgbClr val="000000"/>
              </a:solidFill>
              <a:latin typeface="Century Gothic"/>
              <a:ea typeface="Roboto"/>
              <a:cs typeface="Roboto"/>
            </a:endParaRPr>
          </a:p>
        </p:txBody>
      </p:sp>
      <p:pic>
        <p:nvPicPr>
          <p:cNvPr id="4" name="Picture 3">
            <a:extLst>
              <a:ext uri="{FF2B5EF4-FFF2-40B4-BE49-F238E27FC236}">
                <a16:creationId xmlns:a16="http://schemas.microsoft.com/office/drawing/2014/main" id="{90AB24BF-BD30-987A-7ABA-D558A71B0939}"/>
              </a:ext>
            </a:extLst>
          </p:cNvPr>
          <p:cNvPicPr>
            <a:picLocks noChangeAspect="1"/>
          </p:cNvPicPr>
          <p:nvPr/>
        </p:nvPicPr>
        <p:blipFill>
          <a:blip r:embed="rId3"/>
          <a:stretch>
            <a:fillRect/>
          </a:stretch>
        </p:blipFill>
        <p:spPr>
          <a:xfrm>
            <a:off x="9042400" y="0"/>
            <a:ext cx="3149600" cy="635000"/>
          </a:xfrm>
          <a:prstGeom prst="rect">
            <a:avLst/>
          </a:prstGeom>
        </p:spPr>
      </p:pic>
      <p:sp>
        <p:nvSpPr>
          <p:cNvPr id="5" name="ZoneTexte 4">
            <a:extLst>
              <a:ext uri="{FF2B5EF4-FFF2-40B4-BE49-F238E27FC236}">
                <a16:creationId xmlns:a16="http://schemas.microsoft.com/office/drawing/2014/main" id="{120E2509-4CA1-BFA8-5FF3-F965FE00622F}"/>
              </a:ext>
            </a:extLst>
          </p:cNvPr>
          <p:cNvSpPr txBox="1"/>
          <p:nvPr/>
        </p:nvSpPr>
        <p:spPr>
          <a:xfrm>
            <a:off x="1103483" y="2118204"/>
            <a:ext cx="2281143" cy="3785652"/>
          </a:xfrm>
          <a:prstGeom prst="rect">
            <a:avLst/>
          </a:prstGeom>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a:ea typeface="+mn-lt"/>
                <a:cs typeface="+mn-lt"/>
              </a:rPr>
              <a:t>👷</a:t>
            </a:r>
            <a:endParaRPr lang="fr-FR"/>
          </a:p>
          <a:p>
            <a:pPr algn="ctr"/>
            <a:endParaRPr lang="fr-FR" sz="2400"/>
          </a:p>
          <a:p>
            <a:pPr algn="ctr"/>
            <a:r>
              <a:rPr lang="fr-FR" sz="2400" b="1" err="1"/>
              <a:t>Infrabel</a:t>
            </a:r>
            <a:r>
              <a:rPr lang="fr-FR" sz="2400" b="1"/>
              <a:t> :</a:t>
            </a:r>
            <a:endParaRPr lang="fr-FR" b="1"/>
          </a:p>
          <a:p>
            <a:pPr algn="ctr"/>
            <a:endParaRPr lang="fr-FR" sz="2400">
              <a:ea typeface="+mn-lt"/>
              <a:cs typeface="+mn-lt"/>
            </a:endParaRPr>
          </a:p>
          <a:p>
            <a:pPr algn="ctr"/>
            <a:r>
              <a:rPr lang="fr-FR" sz="2400">
                <a:ea typeface="+mn-lt"/>
                <a:cs typeface="+mn-lt"/>
              </a:rPr>
              <a:t>Prioritise maintenance </a:t>
            </a:r>
            <a:r>
              <a:rPr lang="fr-FR" sz="2400" err="1">
                <a:ea typeface="+mn-lt"/>
                <a:cs typeface="+mn-lt"/>
              </a:rPr>
              <a:t>based</a:t>
            </a:r>
            <a:r>
              <a:rPr lang="fr-FR" sz="2400">
                <a:ea typeface="+mn-lt"/>
                <a:cs typeface="+mn-lt"/>
              </a:rPr>
              <a:t> on </a:t>
            </a:r>
            <a:r>
              <a:rPr lang="fr-FR" sz="2400" err="1">
                <a:ea typeface="+mn-lt"/>
                <a:cs typeface="+mn-lt"/>
              </a:rPr>
              <a:t>concrete</a:t>
            </a:r>
            <a:r>
              <a:rPr lang="fr-FR" sz="2400">
                <a:ea typeface="+mn-lt"/>
                <a:cs typeface="+mn-lt"/>
              </a:rPr>
              <a:t> </a:t>
            </a:r>
            <a:r>
              <a:rPr lang="fr-FR" sz="2400" err="1">
                <a:ea typeface="+mn-lt"/>
                <a:cs typeface="+mn-lt"/>
              </a:rPr>
              <a:t>evidence</a:t>
            </a:r>
            <a:r>
              <a:rPr lang="fr-FR" sz="2400"/>
              <a:t> </a:t>
            </a:r>
          </a:p>
          <a:p>
            <a:pPr algn="ctr"/>
            <a:endParaRPr lang="fr-FR" sz="2400"/>
          </a:p>
        </p:txBody>
      </p:sp>
      <p:sp>
        <p:nvSpPr>
          <p:cNvPr id="7" name="ZoneTexte 6">
            <a:extLst>
              <a:ext uri="{FF2B5EF4-FFF2-40B4-BE49-F238E27FC236}">
                <a16:creationId xmlns:a16="http://schemas.microsoft.com/office/drawing/2014/main" id="{318FDD0F-3DDE-BD09-F4DB-1D7DBF882F4D}"/>
              </a:ext>
            </a:extLst>
          </p:cNvPr>
          <p:cNvSpPr txBox="1"/>
          <p:nvPr/>
        </p:nvSpPr>
        <p:spPr>
          <a:xfrm>
            <a:off x="4794244" y="2118201"/>
            <a:ext cx="2274941" cy="3671869"/>
          </a:xfrm>
          <a:prstGeom prst="rect">
            <a:avLst/>
          </a:prstGeom>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a:ea typeface="+mn-lt"/>
                <a:cs typeface="+mn-lt"/>
              </a:rPr>
              <a:t>🔬 </a:t>
            </a:r>
            <a:endParaRPr lang="fr-FR"/>
          </a:p>
          <a:p>
            <a:pPr algn="ctr"/>
            <a:endParaRPr lang="fr-FR" sz="2400">
              <a:ea typeface="+mn-lt"/>
              <a:cs typeface="+mn-lt"/>
            </a:endParaRPr>
          </a:p>
          <a:p>
            <a:pPr algn="ctr"/>
            <a:r>
              <a:rPr lang="fr-FR" sz="2400" b="1">
                <a:ea typeface="+mn-lt"/>
                <a:cs typeface="+mn-lt"/>
              </a:rPr>
              <a:t>Chercheurs:</a:t>
            </a:r>
            <a:r>
              <a:rPr lang="fr-FR" sz="2400">
                <a:ea typeface="+mn-lt"/>
                <a:cs typeface="+mn-lt"/>
              </a:rPr>
              <a:t> </a:t>
            </a:r>
            <a:endParaRPr lang="fr-FR" sz="2400"/>
          </a:p>
          <a:p>
            <a:pPr algn="ctr"/>
            <a:endParaRPr lang="fr-FR"/>
          </a:p>
          <a:p>
            <a:pPr algn="ctr"/>
            <a:endParaRPr lang="fr-FR"/>
          </a:p>
          <a:p>
            <a:pPr algn="ctr"/>
            <a:r>
              <a:rPr lang="fr-FR" sz="2400">
                <a:ea typeface="+mn-lt"/>
                <a:cs typeface="+mn-lt"/>
              </a:rPr>
              <a:t>Longitudinal </a:t>
            </a:r>
            <a:r>
              <a:rPr lang="fr-FR" sz="2400" err="1">
                <a:ea typeface="+mn-lt"/>
                <a:cs typeface="+mn-lt"/>
              </a:rPr>
              <a:t>analysis</a:t>
            </a:r>
            <a:r>
              <a:rPr lang="fr-FR" sz="2400">
                <a:ea typeface="+mn-lt"/>
                <a:cs typeface="+mn-lt"/>
              </a:rPr>
              <a:t> of </a:t>
            </a:r>
            <a:r>
              <a:rPr lang="fr-FR" sz="2400" err="1">
                <a:ea typeface="+mn-lt"/>
                <a:cs typeface="+mn-lt"/>
              </a:rPr>
              <a:t>mobility</a:t>
            </a:r>
            <a:r>
              <a:rPr lang="fr-FR" sz="2400">
                <a:ea typeface="+mn-lt"/>
                <a:cs typeface="+mn-lt"/>
              </a:rPr>
              <a:t> patterns </a:t>
            </a:r>
          </a:p>
          <a:p>
            <a:pPr algn="ctr"/>
            <a:endParaRPr lang="fr-FR" sz="2400"/>
          </a:p>
        </p:txBody>
      </p:sp>
      <p:sp>
        <p:nvSpPr>
          <p:cNvPr id="9" name="ZoneTexte 8">
            <a:extLst>
              <a:ext uri="{FF2B5EF4-FFF2-40B4-BE49-F238E27FC236}">
                <a16:creationId xmlns:a16="http://schemas.microsoft.com/office/drawing/2014/main" id="{DC7CC6D6-4F9C-724B-9573-8B9E76D59348}"/>
              </a:ext>
            </a:extLst>
          </p:cNvPr>
          <p:cNvSpPr txBox="1"/>
          <p:nvPr/>
        </p:nvSpPr>
        <p:spPr>
          <a:xfrm>
            <a:off x="8689472" y="2118204"/>
            <a:ext cx="2387765" cy="3785652"/>
          </a:xfrm>
          <a:prstGeom prst="rect">
            <a:avLst/>
          </a:prstGeom>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a:ea typeface="+mn-lt"/>
                <a:cs typeface="+mn-lt"/>
              </a:rPr>
              <a:t>🚆</a:t>
            </a:r>
          </a:p>
          <a:p>
            <a:pPr algn="ctr"/>
            <a:endParaRPr lang="fr-FR" sz="2400">
              <a:ea typeface="+mn-lt"/>
              <a:cs typeface="+mn-lt"/>
            </a:endParaRPr>
          </a:p>
          <a:p>
            <a:pPr algn="ctr"/>
            <a:r>
              <a:rPr lang="fr-FR" sz="2400">
                <a:ea typeface="+mn-lt"/>
                <a:cs typeface="+mn-lt"/>
              </a:rPr>
              <a:t> </a:t>
            </a:r>
            <a:r>
              <a:rPr lang="fr-FR" sz="2400"/>
              <a:t> </a:t>
            </a:r>
            <a:r>
              <a:rPr lang="fr-FR" sz="2400" b="1"/>
              <a:t>Voyageurs</a:t>
            </a:r>
          </a:p>
          <a:p>
            <a:pPr algn="ctr"/>
            <a:endParaRPr lang="fr-FR" sz="2400">
              <a:ea typeface="+mn-lt"/>
              <a:cs typeface="+mn-lt"/>
            </a:endParaRPr>
          </a:p>
          <a:p>
            <a:pPr algn="ctr"/>
            <a:r>
              <a:rPr lang="fr-FR" sz="2400" err="1">
                <a:ea typeface="+mn-lt"/>
                <a:cs typeface="+mn-lt"/>
              </a:rPr>
              <a:t>Understanding</a:t>
            </a:r>
            <a:r>
              <a:rPr lang="fr-FR" sz="2400">
                <a:ea typeface="+mn-lt"/>
                <a:cs typeface="+mn-lt"/>
              </a:rPr>
              <a:t> </a:t>
            </a:r>
            <a:r>
              <a:rPr lang="fr-FR" sz="2400" err="1">
                <a:ea typeface="+mn-lt"/>
                <a:cs typeface="+mn-lt"/>
              </a:rPr>
              <a:t>why</a:t>
            </a:r>
            <a:r>
              <a:rPr lang="fr-FR" sz="2400">
                <a:ea typeface="+mn-lt"/>
                <a:cs typeface="+mn-lt"/>
              </a:rPr>
              <a:t> </a:t>
            </a:r>
            <a:r>
              <a:rPr lang="fr-FR" sz="2400" err="1">
                <a:ea typeface="+mn-lt"/>
                <a:cs typeface="+mn-lt"/>
              </a:rPr>
              <a:t>their</a:t>
            </a:r>
            <a:r>
              <a:rPr lang="fr-FR" sz="2400">
                <a:ea typeface="+mn-lt"/>
                <a:cs typeface="+mn-lt"/>
              </a:rPr>
              <a:t> </a:t>
            </a:r>
            <a:r>
              <a:rPr lang="fr-FR" sz="2400" err="1">
                <a:ea typeface="+mn-lt"/>
                <a:cs typeface="+mn-lt"/>
              </a:rPr>
              <a:t>journey</a:t>
            </a:r>
            <a:r>
              <a:rPr lang="fr-FR" sz="2400">
                <a:ea typeface="+mn-lt"/>
                <a:cs typeface="+mn-lt"/>
              </a:rPr>
              <a:t> has been </a:t>
            </a:r>
            <a:r>
              <a:rPr lang="fr-FR" sz="2400" err="1">
                <a:ea typeface="+mn-lt"/>
                <a:cs typeface="+mn-lt"/>
              </a:rPr>
              <a:t>disrupted</a:t>
            </a:r>
            <a:endParaRPr lang="fr-FR" sz="2400">
              <a:ea typeface="+mn-lt"/>
              <a:cs typeface="+mn-lt"/>
            </a:endParaRPr>
          </a:p>
          <a:p>
            <a:pPr algn="ctr"/>
            <a:endParaRPr lang="fr-FR" sz="2400"/>
          </a:p>
        </p:txBody>
      </p:sp>
    </p:spTree>
    <p:extLst>
      <p:ext uri="{BB962C8B-B14F-4D97-AF65-F5344CB8AC3E}">
        <p14:creationId xmlns:p14="http://schemas.microsoft.com/office/powerpoint/2010/main" val="2664362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EB0FA6-7FC6-ADCA-64C6-168CA1A7F9C4}"/>
            </a:ext>
          </a:extLst>
        </p:cNvPr>
        <p:cNvGrpSpPr/>
        <p:nvPr/>
      </p:nvGrpSpPr>
      <p:grpSpPr>
        <a:xfrm>
          <a:off x="0" y="0"/>
          <a:ext cx="0" cy="0"/>
          <a:chOff x="0" y="0"/>
          <a:chExt cx="0" cy="0"/>
        </a:xfrm>
      </p:grpSpPr>
      <p:sp>
        <p:nvSpPr>
          <p:cNvPr id="6" name="Titre 5">
            <a:extLst>
              <a:ext uri="{FF2B5EF4-FFF2-40B4-BE49-F238E27FC236}">
                <a16:creationId xmlns:a16="http://schemas.microsoft.com/office/drawing/2014/main" id="{AAAA95B0-1AB3-7228-9BF1-5D33878D04E4}"/>
              </a:ext>
            </a:extLst>
          </p:cNvPr>
          <p:cNvSpPr>
            <a:spLocks noGrp="1"/>
          </p:cNvSpPr>
          <p:nvPr>
            <p:ph type="title"/>
          </p:nvPr>
        </p:nvSpPr>
        <p:spPr>
          <a:xfrm>
            <a:off x="762000" y="4999200"/>
            <a:ext cx="6149789" cy="1220619"/>
          </a:xfrm>
        </p:spPr>
        <p:txBody>
          <a:bodyPr vert="horz" lIns="91440" tIns="45720" rIns="91440" bIns="45720" rtlCol="0" anchor="t">
            <a:normAutofit/>
          </a:bodyPr>
          <a:lstStyle/>
          <a:p>
            <a:r>
              <a:rPr lang="en-US" b="1"/>
              <a:t>Data source</a:t>
            </a:r>
            <a:endParaRPr lang="en-US"/>
          </a:p>
        </p:txBody>
      </p:sp>
      <p:pic>
        <p:nvPicPr>
          <p:cNvPr id="5" name="Image 4" descr="Une image contenant carte, texte, atlas&#10;&#10;Le contenu généré par l’IA peut être incorrect.">
            <a:extLst>
              <a:ext uri="{FF2B5EF4-FFF2-40B4-BE49-F238E27FC236}">
                <a16:creationId xmlns:a16="http://schemas.microsoft.com/office/drawing/2014/main" id="{A40CA012-69D7-B24B-2120-88B9844FC4DA}"/>
              </a:ext>
            </a:extLst>
          </p:cNvPr>
          <p:cNvPicPr>
            <a:picLocks noChangeAspect="1"/>
          </p:cNvPicPr>
          <p:nvPr/>
        </p:nvPicPr>
        <p:blipFill>
          <a:blip r:embed="rId3"/>
          <a:srcRect l="7886" r="15533"/>
          <a:stretch>
            <a:fillRect/>
          </a:stretch>
        </p:blipFill>
        <p:spPr>
          <a:xfrm>
            <a:off x="878183" y="838200"/>
            <a:ext cx="5969060" cy="3936172"/>
          </a:xfrm>
          <a:prstGeom prst="rect">
            <a:avLst/>
          </a:prstGeom>
        </p:spPr>
      </p:pic>
      <p:cxnSp>
        <p:nvCxnSpPr>
          <p:cNvPr id="14" name="Straight Connector 11">
            <a:extLst>
              <a:ext uri="{FF2B5EF4-FFF2-40B4-BE49-F238E27FC236}">
                <a16:creationId xmlns:a16="http://schemas.microsoft.com/office/drawing/2014/main" id="{CD8BC200-CFA3-C21D-9306-5C7BA01865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5191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4E94EE58-B996-5D29-A606-996E57781CC8}"/>
              </a:ext>
            </a:extLst>
          </p:cNvPr>
          <p:cNvSpPr>
            <a:spLocks noGrp="1"/>
          </p:cNvSpPr>
          <p:nvPr>
            <p:ph type="body" sz="half" idx="2"/>
          </p:nvPr>
        </p:nvSpPr>
        <p:spPr>
          <a:xfrm>
            <a:off x="7557088" y="1143000"/>
            <a:ext cx="4332124" cy="5494428"/>
          </a:xfrm>
        </p:spPr>
        <p:txBody>
          <a:bodyPr vert="horz" lIns="91440" tIns="45720" rIns="91440" bIns="45720" rtlCol="0" anchor="t">
            <a:normAutofit/>
          </a:bodyPr>
          <a:lstStyle/>
          <a:p>
            <a:r>
              <a:rPr lang="en-US" sz="1700"/>
              <a:t>🗄️ </a:t>
            </a:r>
            <a:r>
              <a:rPr lang="en-US" sz="2000" b="1"/>
              <a:t>Source </a:t>
            </a:r>
            <a:r>
              <a:rPr lang="en-US" sz="2000" b="1" err="1"/>
              <a:t>principale</a:t>
            </a:r>
            <a:endParaRPr lang="fr-FR" sz="2000"/>
          </a:p>
          <a:p>
            <a:r>
              <a:rPr lang="en-US" sz="2000"/>
              <a:t>API </a:t>
            </a:r>
            <a:r>
              <a:rPr lang="en-US" sz="2000" err="1"/>
              <a:t>MobilityTwin.Brussels</a:t>
            </a:r>
            <a:endParaRPr lang="en-US" sz="2000"/>
          </a:p>
          <a:p>
            <a:r>
              <a:rPr lang="en-US" sz="2000"/>
              <a:t>GET /</a:t>
            </a:r>
            <a:r>
              <a:rPr lang="en-US" sz="2000" err="1"/>
              <a:t>infrabel</a:t>
            </a:r>
            <a:r>
              <a:rPr lang="en-US" sz="2000"/>
              <a:t>/</a:t>
            </a:r>
            <a:r>
              <a:rPr lang="en-US" sz="2000" err="1"/>
              <a:t>punctuality</a:t>
            </a:r>
            <a:r>
              <a:rPr lang="en-US" sz="2000"/>
              <a:t> </a:t>
            </a:r>
            <a:r>
              <a:rPr lang="en-US" sz="2000" err="1"/>
              <a:t>tu</a:t>
            </a:r>
            <a:r>
              <a:rPr lang="en-US" sz="2000"/>
              <a:t> </a:t>
            </a:r>
            <a:r>
              <a:rPr lang="en-US" sz="2000" err="1"/>
              <a:t>m'as</a:t>
            </a:r>
            <a:r>
              <a:rPr lang="en-US" sz="2000"/>
              <a:t> </a:t>
            </a:r>
            <a:r>
              <a:rPr lang="en-US" sz="2000" err="1"/>
              <a:t>montrée</a:t>
            </a:r>
            <a:r>
              <a:rPr lang="en-US" sz="2000"/>
              <a:t>] ?timestamp=&lt;iso&gt;</a:t>
            </a:r>
          </a:p>
          <a:p>
            <a:endParaRPr lang="en-US" sz="1700"/>
          </a:p>
          <a:p>
            <a:pPr marL="342900" indent="-285750">
              <a:buFont typeface="Wingdings" panose="020B0604020202020204" pitchFamily="34" charset="0"/>
              <a:buChar char="Ø"/>
            </a:pPr>
            <a:r>
              <a:rPr lang="en-US" sz="1800">
                <a:ea typeface="+mn-lt"/>
                <a:cs typeface="+mn-lt"/>
              </a:rPr>
              <a:t>1 recording = 1 stop, 1 train, 1 day</a:t>
            </a:r>
            <a:endParaRPr lang="en-US" sz="1800"/>
          </a:p>
          <a:p>
            <a:pPr marL="342900" indent="-285750">
              <a:buFont typeface="Wingdings" panose="020B0604020202020204" pitchFamily="34" charset="0"/>
              <a:buChar char="Ø"/>
            </a:pPr>
            <a:r>
              <a:rPr lang="en-US" sz="1800"/>
              <a:t>470000  </a:t>
            </a:r>
            <a:r>
              <a:rPr lang="en-US" sz="1800">
                <a:ea typeface="+mn-lt"/>
                <a:cs typeface="+mn-lt"/>
              </a:rPr>
              <a:t>arrivals / 43 days</a:t>
            </a:r>
          </a:p>
          <a:p>
            <a:pPr marL="342900" indent="-285750">
              <a:buFont typeface="Wingdings" panose="020B0604020202020204" pitchFamily="34" charset="0"/>
              <a:buChar char="Ø"/>
            </a:pPr>
            <a:r>
              <a:rPr lang="en-US" sz="1800"/>
              <a:t>447</a:t>
            </a:r>
            <a:r>
              <a:rPr lang="en-US" sz="1800">
                <a:ea typeface="+mn-lt"/>
                <a:cs typeface="+mn-lt"/>
              </a:rPr>
              <a:t>stations and 103 days</a:t>
            </a:r>
          </a:p>
          <a:p>
            <a:pPr marL="342900" indent="-285750">
              <a:buFont typeface="Wingdings" panose="020B0604020202020204" pitchFamily="34" charset="0"/>
              <a:buChar char="Ø"/>
            </a:pPr>
            <a:endParaRPr lang="en-US" sz="1700"/>
          </a:p>
          <a:p>
            <a:r>
              <a:rPr lang="en-US" sz="2000" b="1">
                <a:ea typeface="+mn-lt"/>
                <a:cs typeface="+mn-lt"/>
              </a:rPr>
              <a:t>Geographical data</a:t>
            </a:r>
            <a:r>
              <a:rPr lang="en-US" sz="1700" b="1">
                <a:ea typeface="+mn-lt"/>
                <a:cs typeface="+mn-lt"/>
              </a:rPr>
              <a:t> </a:t>
            </a:r>
          </a:p>
          <a:p>
            <a:pPr marL="285750" indent="-228600">
              <a:buFont typeface="Wingdings" panose="020B0604020202020204" pitchFamily="34" charset="0"/>
              <a:buChar char="Ø"/>
            </a:pPr>
            <a:r>
              <a:rPr lang="en-US" sz="1800" err="1">
                <a:ea typeface="+mn-lt"/>
                <a:cs typeface="+mn-lt"/>
              </a:rPr>
              <a:t>Operational_points.json</a:t>
            </a:r>
            <a:r>
              <a:rPr lang="en-US" sz="1800"/>
              <a:t>  </a:t>
            </a:r>
            <a:r>
              <a:rPr lang="en-US" sz="1800">
                <a:ea typeface="+mn-lt"/>
                <a:cs typeface="+mn-lt"/>
              </a:rPr>
              <a:t>               GPS coordinates of the stations</a:t>
            </a:r>
            <a:endParaRPr lang="en-US" sz="1800"/>
          </a:p>
          <a:p>
            <a:pPr marL="285750" indent="-228600">
              <a:buFont typeface="Wingdings" panose="020B0604020202020204" pitchFamily="34" charset="0"/>
              <a:buChar char="Ø"/>
            </a:pPr>
            <a:r>
              <a:rPr lang="en-US" sz="1800"/>
              <a:t>Line_sections.json          </a:t>
            </a:r>
            <a:r>
              <a:rPr lang="en-US" sz="1800">
                <a:ea typeface="+mn-lt"/>
                <a:cs typeface="+mn-lt"/>
              </a:rPr>
              <a:t>                   Line geometry </a:t>
            </a:r>
          </a:p>
          <a:p>
            <a:pPr indent="-228600">
              <a:buFont typeface="Wingdings" panose="020B0604020202020204" pitchFamily="34" charset="0"/>
              <a:buChar char="Ø"/>
            </a:pPr>
            <a:endParaRPr lang="en-US" sz="1800"/>
          </a:p>
        </p:txBody>
      </p:sp>
      <p:cxnSp>
        <p:nvCxnSpPr>
          <p:cNvPr id="9" name="Connecteur droit avec flèche 8">
            <a:extLst>
              <a:ext uri="{FF2B5EF4-FFF2-40B4-BE49-F238E27FC236}">
                <a16:creationId xmlns:a16="http://schemas.microsoft.com/office/drawing/2014/main" id="{8A7BB02A-A494-C1AE-4EE2-BB29D2A8216E}"/>
              </a:ext>
            </a:extLst>
          </p:cNvPr>
          <p:cNvCxnSpPr/>
          <p:nvPr/>
        </p:nvCxnSpPr>
        <p:spPr>
          <a:xfrm flipV="1">
            <a:off x="10684143" y="4996627"/>
            <a:ext cx="935789" cy="135"/>
          </a:xfrm>
          <a:prstGeom prst="straightConnector1">
            <a:avLst/>
          </a:prstGeom>
          <a:ln>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20B9E0F2-29DC-39C5-8905-E8D541820F34}"/>
              </a:ext>
            </a:extLst>
          </p:cNvPr>
          <p:cNvCxnSpPr/>
          <p:nvPr/>
        </p:nvCxnSpPr>
        <p:spPr>
          <a:xfrm>
            <a:off x="10015973" y="5599350"/>
            <a:ext cx="1323473" cy="26736"/>
          </a:xfrm>
          <a:prstGeom prst="straightConnector1">
            <a:avLst/>
          </a:prstGeom>
          <a:ln>
            <a:solidFill>
              <a:srgbClr val="00B0F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6751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D494F-46D1-909D-9282-2DD28DE029D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2F50D23-2E2A-8540-3901-D16F81BAC392}"/>
              </a:ext>
            </a:extLst>
          </p:cNvPr>
          <p:cNvSpPr>
            <a:spLocks noGrp="1"/>
          </p:cNvSpPr>
          <p:nvPr>
            <p:ph type="subTitle" idx="1"/>
          </p:nvPr>
        </p:nvSpPr>
        <p:spPr>
          <a:xfrm>
            <a:off x="389467" y="3803385"/>
            <a:ext cx="8229600" cy="1141148"/>
          </a:xfrm>
        </p:spPr>
        <p:txBody>
          <a:bodyPr vert="horz" lIns="91440" tIns="45720" rIns="91440" bIns="45720" rtlCol="0" anchor="t">
            <a:normAutofit/>
          </a:bodyPr>
          <a:lstStyle/>
          <a:p>
            <a:pPr algn="l"/>
            <a:r>
              <a:rPr lang="en-BE" sz="4800">
                <a:solidFill>
                  <a:srgbClr val="0070C0"/>
                </a:solidFill>
                <a:latin typeface="Century Gothic"/>
              </a:rPr>
              <a:t>Data Pipeline</a:t>
            </a:r>
            <a:endParaRPr lang="fr-FR"/>
          </a:p>
        </p:txBody>
      </p:sp>
      <p:pic>
        <p:nvPicPr>
          <p:cNvPr id="4" name="Picture 3">
            <a:extLst>
              <a:ext uri="{FF2B5EF4-FFF2-40B4-BE49-F238E27FC236}">
                <a16:creationId xmlns:a16="http://schemas.microsoft.com/office/drawing/2014/main" id="{478F66AD-57DF-C619-AB23-37531AEBB5E4}"/>
              </a:ext>
            </a:extLst>
          </p:cNvPr>
          <p:cNvPicPr>
            <a:picLocks noChangeAspect="1"/>
          </p:cNvPicPr>
          <p:nvPr/>
        </p:nvPicPr>
        <p:blipFill>
          <a:blip r:embed="rId2"/>
          <a:stretch>
            <a:fillRect/>
          </a:stretch>
        </p:blipFill>
        <p:spPr>
          <a:xfrm>
            <a:off x="9042400" y="0"/>
            <a:ext cx="3149600" cy="635000"/>
          </a:xfrm>
          <a:prstGeom prst="rect">
            <a:avLst/>
          </a:prstGeom>
        </p:spPr>
      </p:pic>
    </p:spTree>
    <p:extLst>
      <p:ext uri="{BB962C8B-B14F-4D97-AF65-F5344CB8AC3E}">
        <p14:creationId xmlns:p14="http://schemas.microsoft.com/office/powerpoint/2010/main" val="3002445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D2652-83E0-16BC-0C07-CEB9F721E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8373E-1B99-90E9-0F28-126C09ADC0B7}"/>
              </a:ext>
            </a:extLst>
          </p:cNvPr>
          <p:cNvSpPr>
            <a:spLocks noGrp="1"/>
          </p:cNvSpPr>
          <p:nvPr>
            <p:ph type="title"/>
          </p:nvPr>
        </p:nvSpPr>
        <p:spPr/>
        <p:txBody>
          <a:bodyPr>
            <a:normAutofit/>
          </a:bodyPr>
          <a:lstStyle/>
          <a:p>
            <a:r>
              <a:rPr lang="en-US" sz="3200">
                <a:latin typeface="Century Gothic"/>
              </a:rPr>
              <a:t>Data Cleaning</a:t>
            </a:r>
            <a:endParaRPr lang="fr-FR" sz="6000"/>
          </a:p>
        </p:txBody>
      </p:sp>
      <p:sp>
        <p:nvSpPr>
          <p:cNvPr id="3" name="Content Placeholder 2">
            <a:extLst>
              <a:ext uri="{FF2B5EF4-FFF2-40B4-BE49-F238E27FC236}">
                <a16:creationId xmlns:a16="http://schemas.microsoft.com/office/drawing/2014/main" id="{4BA465C4-15C1-07BA-F5B2-98070834B605}"/>
              </a:ext>
            </a:extLst>
          </p:cNvPr>
          <p:cNvSpPr>
            <a:spLocks noGrp="1"/>
          </p:cNvSpPr>
          <p:nvPr>
            <p:ph idx="1"/>
          </p:nvPr>
        </p:nvSpPr>
        <p:spPr>
          <a:xfrm>
            <a:off x="838200" y="1859491"/>
            <a:ext cx="10515600" cy="4633383"/>
          </a:xfrm>
        </p:spPr>
        <p:txBody>
          <a:bodyPr>
            <a:normAutofit/>
          </a:bodyPr>
          <a:lstStyle/>
          <a:p>
            <a:pPr marL="0" indent="0">
              <a:buNone/>
            </a:pPr>
            <a:endParaRPr lang="en-BE">
              <a:latin typeface="Century Gothic" panose="020B0502020202020204" pitchFamily="34" charset="0"/>
            </a:endParaRPr>
          </a:p>
          <a:p>
            <a:pPr marL="0" indent="0">
              <a:buNone/>
            </a:pPr>
            <a:endParaRPr lang="en-BE">
              <a:latin typeface="Century Gothic" panose="020B0502020202020204" pitchFamily="34" charset="0"/>
            </a:endParaRPr>
          </a:p>
          <a:p>
            <a:pPr marL="0" indent="0">
              <a:buNone/>
            </a:pPr>
            <a:endParaRPr lang="en-BE">
              <a:latin typeface="Century Gothic" panose="020B0502020202020204" pitchFamily="34" charset="0"/>
            </a:endParaRPr>
          </a:p>
        </p:txBody>
      </p:sp>
      <p:sp>
        <p:nvSpPr>
          <p:cNvPr id="7" name="Content Placeholder 6">
            <a:extLst>
              <a:ext uri="{FF2B5EF4-FFF2-40B4-BE49-F238E27FC236}">
                <a16:creationId xmlns:a16="http://schemas.microsoft.com/office/drawing/2014/main" id="{23F9B76E-1E7F-204A-04C5-0ED4B799BC60}"/>
              </a:ext>
            </a:extLst>
          </p:cNvPr>
          <p:cNvSpPr txBox="1">
            <a:spLocks/>
          </p:cNvSpPr>
          <p:nvPr/>
        </p:nvSpPr>
        <p:spPr>
          <a:xfrm>
            <a:off x="838200" y="1705065"/>
            <a:ext cx="2212676" cy="47878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b="1">
              <a:solidFill>
                <a:srgbClr val="00B0F0"/>
              </a:solidFill>
            </a:endParaRPr>
          </a:p>
        </p:txBody>
      </p:sp>
      <p:pic>
        <p:nvPicPr>
          <p:cNvPr id="13" name="Picture 12">
            <a:extLst>
              <a:ext uri="{FF2B5EF4-FFF2-40B4-BE49-F238E27FC236}">
                <a16:creationId xmlns:a16="http://schemas.microsoft.com/office/drawing/2014/main" id="{D06ECB03-8565-78E6-67DE-F2C94EA4F2FE}"/>
              </a:ext>
            </a:extLst>
          </p:cNvPr>
          <p:cNvPicPr>
            <a:picLocks noChangeAspect="1"/>
          </p:cNvPicPr>
          <p:nvPr/>
        </p:nvPicPr>
        <p:blipFill>
          <a:blip r:embed="rId3"/>
          <a:srcRect b="16190"/>
          <a:stretch>
            <a:fillRect/>
          </a:stretch>
        </p:blipFill>
        <p:spPr>
          <a:xfrm>
            <a:off x="5810098" y="555171"/>
            <a:ext cx="4572000" cy="5747657"/>
          </a:xfrm>
          <a:prstGeom prst="rect">
            <a:avLst/>
          </a:prstGeom>
        </p:spPr>
      </p:pic>
      <p:sp>
        <p:nvSpPr>
          <p:cNvPr id="15" name="TextBox 14">
            <a:extLst>
              <a:ext uri="{FF2B5EF4-FFF2-40B4-BE49-F238E27FC236}">
                <a16:creationId xmlns:a16="http://schemas.microsoft.com/office/drawing/2014/main" id="{BA449F38-D0CB-F4C2-A747-A62D60BDD8AF}"/>
              </a:ext>
            </a:extLst>
          </p:cNvPr>
          <p:cNvSpPr txBox="1"/>
          <p:nvPr/>
        </p:nvSpPr>
        <p:spPr>
          <a:xfrm>
            <a:off x="838200" y="2028149"/>
            <a:ext cx="4572000" cy="2031325"/>
          </a:xfrm>
          <a:prstGeom prst="rect">
            <a:avLst/>
          </a:prstGeom>
          <a:noFill/>
        </p:spPr>
        <p:txBody>
          <a:bodyPr wrap="square">
            <a:spAutoFit/>
          </a:bodyPr>
          <a:lstStyle/>
          <a:p>
            <a:pPr marL="285750" indent="-285750">
              <a:buFont typeface="Arial" panose="020B0604020202020204" pitchFamily="34" charset="0"/>
              <a:buChar char="•"/>
            </a:pPr>
            <a:r>
              <a:rPr lang="en-US"/>
              <a:t>Transformed raw Mobility Twin / Infrabel API responses </a:t>
            </a:r>
            <a:br>
              <a:rPr lang="en-US"/>
            </a:br>
            <a:endParaRPr lang="en-US"/>
          </a:p>
          <a:p>
            <a:pPr marL="285750" indent="-285750">
              <a:buFont typeface="Arial" panose="020B0604020202020204" pitchFamily="34" charset="0"/>
              <a:buChar char="•"/>
            </a:pPr>
            <a:r>
              <a:rPr lang="en-US"/>
              <a:t>Standardized temporal and delay-related features</a:t>
            </a:r>
            <a:br>
              <a:rPr lang="en-US"/>
            </a:br>
            <a:endParaRPr lang="en-US"/>
          </a:p>
          <a:p>
            <a:pPr marL="285750" indent="-285750">
              <a:buFont typeface="Arial" panose="020B0604020202020204" pitchFamily="34" charset="0"/>
              <a:buChar char="•"/>
            </a:pPr>
            <a:r>
              <a:rPr lang="en-US"/>
              <a:t>Analysis-Ready Dataset</a:t>
            </a:r>
          </a:p>
        </p:txBody>
      </p:sp>
    </p:spTree>
    <p:extLst>
      <p:ext uri="{BB962C8B-B14F-4D97-AF65-F5344CB8AC3E}">
        <p14:creationId xmlns:p14="http://schemas.microsoft.com/office/powerpoint/2010/main" val="2930840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5E45B-3B0B-C676-E91E-F22CC00CF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29E66-B2CC-A61B-62D8-3141AC9C92F9}"/>
              </a:ext>
            </a:extLst>
          </p:cNvPr>
          <p:cNvSpPr>
            <a:spLocks noGrp="1"/>
          </p:cNvSpPr>
          <p:nvPr>
            <p:ph type="title"/>
          </p:nvPr>
        </p:nvSpPr>
        <p:spPr/>
        <p:txBody>
          <a:bodyPr/>
          <a:lstStyle/>
          <a:p>
            <a:r>
              <a:rPr lang="en-GB"/>
              <a:t>Cleaned Data</a:t>
            </a:r>
            <a:endParaRPr lang="en-BE">
              <a:latin typeface="Century Gothic" panose="020B0502020202020204" pitchFamily="34" charset="0"/>
            </a:endParaRPr>
          </a:p>
        </p:txBody>
      </p:sp>
      <p:pic>
        <p:nvPicPr>
          <p:cNvPr id="6" name="Content Placeholder 5">
            <a:extLst>
              <a:ext uri="{FF2B5EF4-FFF2-40B4-BE49-F238E27FC236}">
                <a16:creationId xmlns:a16="http://schemas.microsoft.com/office/drawing/2014/main" id="{7BD6B70F-CDB0-9818-8B05-953FEC8BD031}"/>
              </a:ext>
            </a:extLst>
          </p:cNvPr>
          <p:cNvPicPr>
            <a:picLocks noGrp="1" noChangeAspect="1"/>
          </p:cNvPicPr>
          <p:nvPr>
            <p:ph idx="1"/>
          </p:nvPr>
        </p:nvPicPr>
        <p:blipFill>
          <a:blip r:embed="rId2"/>
          <a:stretch>
            <a:fillRect/>
          </a:stretch>
        </p:blipFill>
        <p:spPr>
          <a:xfrm>
            <a:off x="446314" y="2055813"/>
            <a:ext cx="5257800" cy="3542217"/>
          </a:xfrm>
          <a:prstGeom prst="rect">
            <a:avLst/>
          </a:prstGeom>
        </p:spPr>
      </p:pic>
      <p:pic>
        <p:nvPicPr>
          <p:cNvPr id="4" name="Picture 3">
            <a:extLst>
              <a:ext uri="{FF2B5EF4-FFF2-40B4-BE49-F238E27FC236}">
                <a16:creationId xmlns:a16="http://schemas.microsoft.com/office/drawing/2014/main" id="{26D69B50-3D4E-F1FF-871B-C8BB44F41A22}"/>
              </a:ext>
            </a:extLst>
          </p:cNvPr>
          <p:cNvPicPr>
            <a:picLocks noChangeAspect="1"/>
          </p:cNvPicPr>
          <p:nvPr/>
        </p:nvPicPr>
        <p:blipFill>
          <a:blip r:embed="rId3"/>
          <a:stretch>
            <a:fillRect/>
          </a:stretch>
        </p:blipFill>
        <p:spPr>
          <a:xfrm>
            <a:off x="9042400" y="0"/>
            <a:ext cx="3149600" cy="635000"/>
          </a:xfrm>
          <a:prstGeom prst="rect">
            <a:avLst/>
          </a:prstGeom>
        </p:spPr>
      </p:pic>
      <p:sp>
        <p:nvSpPr>
          <p:cNvPr id="7" name="Content Placeholder 6">
            <a:extLst>
              <a:ext uri="{FF2B5EF4-FFF2-40B4-BE49-F238E27FC236}">
                <a16:creationId xmlns:a16="http://schemas.microsoft.com/office/drawing/2014/main" id="{999E0377-EA68-BB73-849D-B1552A887101}"/>
              </a:ext>
            </a:extLst>
          </p:cNvPr>
          <p:cNvSpPr txBox="1">
            <a:spLocks/>
          </p:cNvSpPr>
          <p:nvPr/>
        </p:nvSpPr>
        <p:spPr>
          <a:xfrm>
            <a:off x="838200" y="1690688"/>
            <a:ext cx="10515600" cy="48021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b="1">
              <a:solidFill>
                <a:srgbClr val="00B0F0"/>
              </a:solidFill>
            </a:endParaRPr>
          </a:p>
        </p:txBody>
      </p:sp>
      <p:pic>
        <p:nvPicPr>
          <p:cNvPr id="9" name="Picture 8">
            <a:extLst>
              <a:ext uri="{FF2B5EF4-FFF2-40B4-BE49-F238E27FC236}">
                <a16:creationId xmlns:a16="http://schemas.microsoft.com/office/drawing/2014/main" id="{ED13A031-2F5F-EA9D-1081-8D62149A7E42}"/>
              </a:ext>
            </a:extLst>
          </p:cNvPr>
          <p:cNvPicPr>
            <a:picLocks noChangeAspect="1"/>
          </p:cNvPicPr>
          <p:nvPr/>
        </p:nvPicPr>
        <p:blipFill>
          <a:blip r:embed="rId4"/>
          <a:stretch>
            <a:fillRect/>
          </a:stretch>
        </p:blipFill>
        <p:spPr>
          <a:xfrm>
            <a:off x="6051132" y="2055813"/>
            <a:ext cx="5982535" cy="2886478"/>
          </a:xfrm>
          <a:prstGeom prst="rect">
            <a:avLst/>
          </a:prstGeom>
        </p:spPr>
      </p:pic>
    </p:spTree>
    <p:extLst>
      <p:ext uri="{BB962C8B-B14F-4D97-AF65-F5344CB8AC3E}">
        <p14:creationId xmlns:p14="http://schemas.microsoft.com/office/powerpoint/2010/main" val="791246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1F44F-80B2-279E-EB3E-A4D9A9162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91CB1-AE0D-8BD0-985E-09DF977A69FB}"/>
              </a:ext>
            </a:extLst>
          </p:cNvPr>
          <p:cNvSpPr>
            <a:spLocks noGrp="1"/>
          </p:cNvSpPr>
          <p:nvPr>
            <p:ph type="title"/>
          </p:nvPr>
        </p:nvSpPr>
        <p:spPr>
          <a:xfrm>
            <a:off x="444910" y="397899"/>
            <a:ext cx="10515600" cy="1325563"/>
          </a:xfrm>
        </p:spPr>
        <p:txBody>
          <a:bodyPr/>
          <a:lstStyle/>
          <a:p>
            <a:r>
              <a:rPr lang="en-GB"/>
              <a:t>Data points used in analysis (the local version) and analysis</a:t>
            </a:r>
            <a:endParaRPr lang="en-BE">
              <a:latin typeface="Century Gothic" panose="020B0502020202020204" pitchFamily="34" charset="0"/>
            </a:endParaRPr>
          </a:p>
        </p:txBody>
      </p:sp>
      <p:sp>
        <p:nvSpPr>
          <p:cNvPr id="3" name="Content Placeholder 2">
            <a:extLst>
              <a:ext uri="{FF2B5EF4-FFF2-40B4-BE49-F238E27FC236}">
                <a16:creationId xmlns:a16="http://schemas.microsoft.com/office/drawing/2014/main" id="{348B7641-0EF4-CC5B-37B5-0AA23D55CAC0}"/>
              </a:ext>
            </a:extLst>
          </p:cNvPr>
          <p:cNvSpPr>
            <a:spLocks noGrp="1"/>
          </p:cNvSpPr>
          <p:nvPr>
            <p:ph idx="1"/>
          </p:nvPr>
        </p:nvSpPr>
        <p:spPr>
          <a:xfrm>
            <a:off x="838200" y="1859491"/>
            <a:ext cx="10515600" cy="4633383"/>
          </a:xfrm>
        </p:spPr>
        <p:txBody>
          <a:bodyPr>
            <a:normAutofit/>
          </a:bodyPr>
          <a:lstStyle/>
          <a:p>
            <a:pPr marL="0" indent="0">
              <a:buNone/>
            </a:pPr>
            <a:endParaRPr lang="en-BE">
              <a:latin typeface="Century Gothic" panose="020B0502020202020204" pitchFamily="34" charset="0"/>
            </a:endParaRPr>
          </a:p>
          <a:p>
            <a:pPr marL="0" indent="0">
              <a:buNone/>
            </a:pPr>
            <a:endParaRPr lang="en-BE">
              <a:latin typeface="Century Gothic" panose="020B0502020202020204" pitchFamily="34" charset="0"/>
            </a:endParaRPr>
          </a:p>
          <a:p>
            <a:pPr marL="0" indent="0">
              <a:buNone/>
            </a:pPr>
            <a:endParaRPr lang="en-BE">
              <a:latin typeface="Century Gothic" panose="020B0502020202020204" pitchFamily="34" charset="0"/>
            </a:endParaRPr>
          </a:p>
        </p:txBody>
      </p:sp>
      <p:pic>
        <p:nvPicPr>
          <p:cNvPr id="4" name="Picture 3">
            <a:extLst>
              <a:ext uri="{FF2B5EF4-FFF2-40B4-BE49-F238E27FC236}">
                <a16:creationId xmlns:a16="http://schemas.microsoft.com/office/drawing/2014/main" id="{47CC18D7-41AE-1DE4-53D0-DEC2F04BDA91}"/>
              </a:ext>
            </a:extLst>
          </p:cNvPr>
          <p:cNvPicPr>
            <a:picLocks noChangeAspect="1"/>
          </p:cNvPicPr>
          <p:nvPr/>
        </p:nvPicPr>
        <p:blipFill>
          <a:blip r:embed="rId2"/>
          <a:stretch>
            <a:fillRect/>
          </a:stretch>
        </p:blipFill>
        <p:spPr>
          <a:xfrm>
            <a:off x="9042400" y="0"/>
            <a:ext cx="3149600" cy="635000"/>
          </a:xfrm>
          <a:prstGeom prst="rect">
            <a:avLst/>
          </a:prstGeom>
        </p:spPr>
      </p:pic>
      <p:sp>
        <p:nvSpPr>
          <p:cNvPr id="7" name="Content Placeholder 6">
            <a:extLst>
              <a:ext uri="{FF2B5EF4-FFF2-40B4-BE49-F238E27FC236}">
                <a16:creationId xmlns:a16="http://schemas.microsoft.com/office/drawing/2014/main" id="{ACDD06CB-AA08-4242-D96D-9DBEE5234FD3}"/>
              </a:ext>
            </a:extLst>
          </p:cNvPr>
          <p:cNvSpPr txBox="1">
            <a:spLocks/>
          </p:cNvSpPr>
          <p:nvPr/>
        </p:nvSpPr>
        <p:spPr>
          <a:xfrm>
            <a:off x="838200" y="1690688"/>
            <a:ext cx="10515600" cy="48021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a:p>
        </p:txBody>
      </p:sp>
      <p:pic>
        <p:nvPicPr>
          <p:cNvPr id="6" name="Picture 5">
            <a:extLst>
              <a:ext uri="{FF2B5EF4-FFF2-40B4-BE49-F238E27FC236}">
                <a16:creationId xmlns:a16="http://schemas.microsoft.com/office/drawing/2014/main" id="{390811DD-28F5-FCA4-5AA5-F8B0A1741283}"/>
              </a:ext>
            </a:extLst>
          </p:cNvPr>
          <p:cNvPicPr>
            <a:picLocks noChangeAspect="1"/>
          </p:cNvPicPr>
          <p:nvPr/>
        </p:nvPicPr>
        <p:blipFill>
          <a:blip r:embed="rId3"/>
          <a:stretch>
            <a:fillRect/>
          </a:stretch>
        </p:blipFill>
        <p:spPr>
          <a:xfrm>
            <a:off x="838200" y="1931582"/>
            <a:ext cx="4388425" cy="2078556"/>
          </a:xfrm>
          <a:prstGeom prst="rect">
            <a:avLst/>
          </a:prstGeom>
        </p:spPr>
      </p:pic>
      <p:pic>
        <p:nvPicPr>
          <p:cNvPr id="9" name="Picture 8">
            <a:extLst>
              <a:ext uri="{FF2B5EF4-FFF2-40B4-BE49-F238E27FC236}">
                <a16:creationId xmlns:a16="http://schemas.microsoft.com/office/drawing/2014/main" id="{5A436B76-7A04-E106-D4FE-393AC6BD2623}"/>
              </a:ext>
            </a:extLst>
          </p:cNvPr>
          <p:cNvPicPr>
            <a:picLocks noChangeAspect="1"/>
          </p:cNvPicPr>
          <p:nvPr/>
        </p:nvPicPr>
        <p:blipFill>
          <a:blip r:embed="rId4"/>
          <a:stretch>
            <a:fillRect/>
          </a:stretch>
        </p:blipFill>
        <p:spPr>
          <a:xfrm>
            <a:off x="5579489" y="1600199"/>
            <a:ext cx="2771775" cy="3990975"/>
          </a:xfrm>
          <a:prstGeom prst="rect">
            <a:avLst/>
          </a:prstGeom>
        </p:spPr>
      </p:pic>
      <p:pic>
        <p:nvPicPr>
          <p:cNvPr id="11" name="Picture 10">
            <a:extLst>
              <a:ext uri="{FF2B5EF4-FFF2-40B4-BE49-F238E27FC236}">
                <a16:creationId xmlns:a16="http://schemas.microsoft.com/office/drawing/2014/main" id="{5BEF9578-1920-9125-CC4B-E8B274FFD703}"/>
              </a:ext>
            </a:extLst>
          </p:cNvPr>
          <p:cNvPicPr>
            <a:picLocks noChangeAspect="1"/>
          </p:cNvPicPr>
          <p:nvPr/>
        </p:nvPicPr>
        <p:blipFill>
          <a:blip r:embed="rId5"/>
          <a:stretch>
            <a:fillRect/>
          </a:stretch>
        </p:blipFill>
        <p:spPr>
          <a:xfrm>
            <a:off x="8751434" y="1433512"/>
            <a:ext cx="2886075" cy="4324350"/>
          </a:xfrm>
          <a:prstGeom prst="rect">
            <a:avLst/>
          </a:prstGeom>
        </p:spPr>
      </p:pic>
    </p:spTree>
    <p:extLst>
      <p:ext uri="{BB962C8B-B14F-4D97-AF65-F5344CB8AC3E}">
        <p14:creationId xmlns:p14="http://schemas.microsoft.com/office/powerpoint/2010/main" val="2993479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C36BD-448E-9FDA-249F-F543C9BBCE2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72113F4-F95F-956F-DA3C-DFBA143BD5BB}"/>
              </a:ext>
            </a:extLst>
          </p:cNvPr>
          <p:cNvSpPr>
            <a:spLocks noGrp="1"/>
          </p:cNvSpPr>
          <p:nvPr>
            <p:ph type="subTitle" idx="1"/>
          </p:nvPr>
        </p:nvSpPr>
        <p:spPr>
          <a:xfrm>
            <a:off x="389467" y="3803385"/>
            <a:ext cx="8229600" cy="1141148"/>
          </a:xfrm>
        </p:spPr>
        <p:txBody>
          <a:bodyPr>
            <a:normAutofit/>
          </a:bodyPr>
          <a:lstStyle/>
          <a:p>
            <a:pPr algn="l"/>
            <a:r>
              <a:rPr lang="en-BE" sz="4800">
                <a:solidFill>
                  <a:srgbClr val="0070C0"/>
                </a:solidFill>
                <a:latin typeface="Century Gothic" panose="020B0502020202020204" pitchFamily="34" charset="0"/>
              </a:rPr>
              <a:t>The Interactive Dashboard </a:t>
            </a:r>
          </a:p>
        </p:txBody>
      </p:sp>
      <p:pic>
        <p:nvPicPr>
          <p:cNvPr id="4" name="Picture 3">
            <a:extLst>
              <a:ext uri="{FF2B5EF4-FFF2-40B4-BE49-F238E27FC236}">
                <a16:creationId xmlns:a16="http://schemas.microsoft.com/office/drawing/2014/main" id="{A01F0D5C-5B93-BDA8-064E-BEA5408D45E3}"/>
              </a:ext>
            </a:extLst>
          </p:cNvPr>
          <p:cNvPicPr>
            <a:picLocks noChangeAspect="1"/>
          </p:cNvPicPr>
          <p:nvPr/>
        </p:nvPicPr>
        <p:blipFill>
          <a:blip r:embed="rId2"/>
          <a:stretch>
            <a:fillRect/>
          </a:stretch>
        </p:blipFill>
        <p:spPr>
          <a:xfrm>
            <a:off x="9042400" y="0"/>
            <a:ext cx="3149600" cy="635000"/>
          </a:xfrm>
          <a:prstGeom prst="rect">
            <a:avLst/>
          </a:prstGeom>
        </p:spPr>
      </p:pic>
    </p:spTree>
    <p:extLst>
      <p:ext uri="{BB962C8B-B14F-4D97-AF65-F5344CB8AC3E}">
        <p14:creationId xmlns:p14="http://schemas.microsoft.com/office/powerpoint/2010/main" val="1778936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1CEDD-8B97-8285-5410-E62E24F0A6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D65AF-3641-8D40-F17C-95CA999AFB99}"/>
              </a:ext>
            </a:extLst>
          </p:cNvPr>
          <p:cNvSpPr>
            <a:spLocks noGrp="1"/>
          </p:cNvSpPr>
          <p:nvPr>
            <p:ph type="title"/>
          </p:nvPr>
        </p:nvSpPr>
        <p:spPr>
          <a:xfrm>
            <a:off x="838200" y="1717889"/>
            <a:ext cx="10515600" cy="1325563"/>
          </a:xfrm>
        </p:spPr>
        <p:txBody>
          <a:bodyPr/>
          <a:lstStyle/>
          <a:p>
            <a:r>
              <a:rPr lang="en-GB">
                <a:ea typeface="+mj-lt"/>
                <a:cs typeface="+mj-lt"/>
              </a:rPr>
              <a:t>Tool Selection: Why </a:t>
            </a:r>
            <a:r>
              <a:rPr lang="en-GB" err="1">
                <a:ea typeface="+mj-lt"/>
                <a:cs typeface="+mj-lt"/>
              </a:rPr>
              <a:t>Streamlit</a:t>
            </a:r>
            <a:r>
              <a:rPr lang="en-GB">
                <a:ea typeface="+mj-lt"/>
                <a:cs typeface="+mj-lt"/>
              </a:rPr>
              <a:t>?</a:t>
            </a:r>
            <a:endParaRPr lang="fr-FR">
              <a:ea typeface="+mj-lt"/>
              <a:cs typeface="+mj-lt"/>
            </a:endParaRPr>
          </a:p>
          <a:p>
            <a:endParaRPr lang="fr-FR"/>
          </a:p>
          <a:p>
            <a:endParaRPr lang="fr-FR"/>
          </a:p>
          <a:p>
            <a:endParaRPr lang="fr-FR"/>
          </a:p>
        </p:txBody>
      </p:sp>
      <p:sp>
        <p:nvSpPr>
          <p:cNvPr id="3" name="Content Placeholder 2">
            <a:extLst>
              <a:ext uri="{FF2B5EF4-FFF2-40B4-BE49-F238E27FC236}">
                <a16:creationId xmlns:a16="http://schemas.microsoft.com/office/drawing/2014/main" id="{27D73766-8FB4-44F3-D1FF-FE0504AE67BE}"/>
              </a:ext>
            </a:extLst>
          </p:cNvPr>
          <p:cNvSpPr>
            <a:spLocks noGrp="1"/>
          </p:cNvSpPr>
          <p:nvPr>
            <p:ph idx="1"/>
          </p:nvPr>
        </p:nvSpPr>
        <p:spPr>
          <a:xfrm>
            <a:off x="838200" y="1859491"/>
            <a:ext cx="10515600" cy="4633383"/>
          </a:xfrm>
        </p:spPr>
        <p:txBody>
          <a:bodyPr>
            <a:normAutofit/>
          </a:bodyPr>
          <a:lstStyle/>
          <a:p>
            <a:pPr marL="0" indent="0">
              <a:buNone/>
            </a:pPr>
            <a:endParaRPr lang="en-BE">
              <a:latin typeface="Century Gothic" panose="020B0502020202020204" pitchFamily="34" charset="0"/>
            </a:endParaRPr>
          </a:p>
          <a:p>
            <a:pPr marL="0" indent="0">
              <a:buNone/>
            </a:pPr>
            <a:endParaRPr lang="en-BE">
              <a:latin typeface="Century Gothic" panose="020B0502020202020204" pitchFamily="34" charset="0"/>
            </a:endParaRPr>
          </a:p>
          <a:p>
            <a:pPr marL="0" indent="0">
              <a:buNone/>
            </a:pPr>
            <a:endParaRPr lang="en-BE">
              <a:latin typeface="Century Gothic" panose="020B0502020202020204" pitchFamily="34" charset="0"/>
            </a:endParaRPr>
          </a:p>
        </p:txBody>
      </p:sp>
      <p:pic>
        <p:nvPicPr>
          <p:cNvPr id="4" name="Picture 3">
            <a:extLst>
              <a:ext uri="{FF2B5EF4-FFF2-40B4-BE49-F238E27FC236}">
                <a16:creationId xmlns:a16="http://schemas.microsoft.com/office/drawing/2014/main" id="{07C2262B-0928-7714-0F12-FEB56BC5D624}"/>
              </a:ext>
            </a:extLst>
          </p:cNvPr>
          <p:cNvPicPr>
            <a:picLocks noChangeAspect="1"/>
          </p:cNvPicPr>
          <p:nvPr/>
        </p:nvPicPr>
        <p:blipFill>
          <a:blip r:embed="rId2"/>
          <a:stretch>
            <a:fillRect/>
          </a:stretch>
        </p:blipFill>
        <p:spPr>
          <a:xfrm>
            <a:off x="9042400" y="0"/>
            <a:ext cx="3149600" cy="635000"/>
          </a:xfrm>
          <a:prstGeom prst="rect">
            <a:avLst/>
          </a:prstGeom>
        </p:spPr>
      </p:pic>
      <p:sp>
        <p:nvSpPr>
          <p:cNvPr id="7" name="Content Placeholder 6">
            <a:extLst>
              <a:ext uri="{FF2B5EF4-FFF2-40B4-BE49-F238E27FC236}">
                <a16:creationId xmlns:a16="http://schemas.microsoft.com/office/drawing/2014/main" id="{32357A0D-A5C4-0119-709D-9D2D492A08E2}"/>
              </a:ext>
            </a:extLst>
          </p:cNvPr>
          <p:cNvSpPr txBox="1">
            <a:spLocks/>
          </p:cNvSpPr>
          <p:nvPr/>
        </p:nvSpPr>
        <p:spPr>
          <a:xfrm>
            <a:off x="838200" y="1690688"/>
            <a:ext cx="10515600" cy="480218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b="1">
              <a:solidFill>
                <a:srgbClr val="00B0F0"/>
              </a:solidFill>
            </a:endParaRPr>
          </a:p>
          <a:p>
            <a:r>
              <a:rPr lang="en-GB" b="1">
                <a:ea typeface="+mn-lt"/>
                <a:cs typeface="+mn-lt"/>
              </a:rPr>
              <a:t>Powered by </a:t>
            </a:r>
            <a:r>
              <a:rPr lang="en-GB" b="1" err="1">
                <a:ea typeface="+mn-lt"/>
                <a:cs typeface="+mn-lt"/>
              </a:rPr>
              <a:t>Streamlit</a:t>
            </a:r>
            <a:r>
              <a:rPr lang="en-GB" b="1">
                <a:ea typeface="+mn-lt"/>
                <a:cs typeface="+mn-lt"/>
              </a:rPr>
              <a:t>:</a:t>
            </a:r>
            <a:r>
              <a:rPr lang="en-GB">
                <a:ea typeface="+mn-lt"/>
                <a:cs typeface="+mn-lt"/>
              </a:rPr>
              <a:t> An open-source Python library designed specifically for data scientists to quickly build and share interactive, data-driven web applications</a:t>
            </a:r>
            <a:endParaRPr lang="en-GB">
              <a:latin typeface="Century Gothic"/>
              <a:cs typeface="Arial"/>
            </a:endParaRPr>
          </a:p>
          <a:p>
            <a:endParaRPr lang="en-GB"/>
          </a:p>
        </p:txBody>
      </p:sp>
      <p:pic>
        <p:nvPicPr>
          <p:cNvPr id="5" name="Image 4" descr="Building and Deploying Snowflake and Streamlit Applications">
            <a:extLst>
              <a:ext uri="{FF2B5EF4-FFF2-40B4-BE49-F238E27FC236}">
                <a16:creationId xmlns:a16="http://schemas.microsoft.com/office/drawing/2014/main" id="{2E09A436-59D9-B8B7-7C14-D82BA34C71FB}"/>
              </a:ext>
            </a:extLst>
          </p:cNvPr>
          <p:cNvPicPr>
            <a:picLocks noChangeAspect="1"/>
          </p:cNvPicPr>
          <p:nvPr/>
        </p:nvPicPr>
        <p:blipFill>
          <a:blip r:embed="rId3"/>
          <a:srcRect r="-169" b="287"/>
          <a:stretch>
            <a:fillRect/>
          </a:stretch>
        </p:blipFill>
        <p:spPr>
          <a:xfrm>
            <a:off x="3278848" y="3753438"/>
            <a:ext cx="5094927" cy="2972758"/>
          </a:xfrm>
          <a:prstGeom prst="rect">
            <a:avLst/>
          </a:prstGeom>
        </p:spPr>
      </p:pic>
    </p:spTree>
    <p:extLst>
      <p:ext uri="{BB962C8B-B14F-4D97-AF65-F5344CB8AC3E}">
        <p14:creationId xmlns:p14="http://schemas.microsoft.com/office/powerpoint/2010/main" val="41216894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A9260-9D01-ADBB-BEB5-CAEF202051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39D6C3-A5D9-0EAA-DB4B-0DDBF8909B2D}"/>
              </a:ext>
            </a:extLst>
          </p:cNvPr>
          <p:cNvSpPr>
            <a:spLocks noGrp="1"/>
          </p:cNvSpPr>
          <p:nvPr>
            <p:ph type="title"/>
          </p:nvPr>
        </p:nvSpPr>
        <p:spPr>
          <a:xfrm>
            <a:off x="838200" y="1204181"/>
            <a:ext cx="10515600" cy="1325563"/>
          </a:xfrm>
        </p:spPr>
        <p:txBody>
          <a:bodyPr/>
          <a:lstStyle/>
          <a:p>
            <a:r>
              <a:rPr lang="en-GB">
                <a:ea typeface="+mj-lt"/>
                <a:cs typeface="+mj-lt"/>
              </a:rPr>
              <a:t>Technical Implementation &amp; Data Flow</a:t>
            </a:r>
            <a:endParaRPr lang="fr-FR"/>
          </a:p>
          <a:p>
            <a:endParaRPr lang="fr-FR"/>
          </a:p>
        </p:txBody>
      </p:sp>
      <p:sp>
        <p:nvSpPr>
          <p:cNvPr id="3" name="Content Placeholder 2">
            <a:extLst>
              <a:ext uri="{FF2B5EF4-FFF2-40B4-BE49-F238E27FC236}">
                <a16:creationId xmlns:a16="http://schemas.microsoft.com/office/drawing/2014/main" id="{80DA4BE1-AF33-EB5C-E99B-A68DA75B1ED9}"/>
              </a:ext>
            </a:extLst>
          </p:cNvPr>
          <p:cNvSpPr>
            <a:spLocks noGrp="1"/>
          </p:cNvSpPr>
          <p:nvPr>
            <p:ph idx="1"/>
          </p:nvPr>
        </p:nvSpPr>
        <p:spPr>
          <a:xfrm>
            <a:off x="838200" y="1859491"/>
            <a:ext cx="10515600" cy="4633383"/>
          </a:xfrm>
        </p:spPr>
        <p:txBody>
          <a:bodyPr>
            <a:normAutofit/>
          </a:bodyPr>
          <a:lstStyle/>
          <a:p>
            <a:pPr marL="0" indent="0">
              <a:buNone/>
            </a:pPr>
            <a:endParaRPr lang="en-BE">
              <a:latin typeface="Century Gothic" panose="020B0502020202020204" pitchFamily="34" charset="0"/>
            </a:endParaRPr>
          </a:p>
          <a:p>
            <a:pPr marL="0" indent="0">
              <a:buNone/>
            </a:pPr>
            <a:endParaRPr lang="en-BE">
              <a:latin typeface="Century Gothic" panose="020B0502020202020204" pitchFamily="34" charset="0"/>
            </a:endParaRPr>
          </a:p>
          <a:p>
            <a:pPr marL="0" indent="0">
              <a:buNone/>
            </a:pPr>
            <a:endParaRPr lang="en-BE">
              <a:latin typeface="Century Gothic" panose="020B0502020202020204" pitchFamily="34" charset="0"/>
            </a:endParaRPr>
          </a:p>
        </p:txBody>
      </p:sp>
      <p:pic>
        <p:nvPicPr>
          <p:cNvPr id="4" name="Picture 3">
            <a:extLst>
              <a:ext uri="{FF2B5EF4-FFF2-40B4-BE49-F238E27FC236}">
                <a16:creationId xmlns:a16="http://schemas.microsoft.com/office/drawing/2014/main" id="{C317AE40-D8C6-DBF6-5701-C16BBB2638C6}"/>
              </a:ext>
            </a:extLst>
          </p:cNvPr>
          <p:cNvPicPr>
            <a:picLocks noChangeAspect="1"/>
          </p:cNvPicPr>
          <p:nvPr/>
        </p:nvPicPr>
        <p:blipFill>
          <a:blip r:embed="rId2"/>
          <a:stretch>
            <a:fillRect/>
          </a:stretch>
        </p:blipFill>
        <p:spPr>
          <a:xfrm>
            <a:off x="9042400" y="0"/>
            <a:ext cx="3149600" cy="635000"/>
          </a:xfrm>
          <a:prstGeom prst="rect">
            <a:avLst/>
          </a:prstGeom>
        </p:spPr>
      </p:pic>
      <p:pic>
        <p:nvPicPr>
          <p:cNvPr id="5" name="Image 4" descr="Une image contenant texte, capture d’écran, Police, nombre&#10;&#10;Le contenu généré par l’IA peut être incorrect.">
            <a:extLst>
              <a:ext uri="{FF2B5EF4-FFF2-40B4-BE49-F238E27FC236}">
                <a16:creationId xmlns:a16="http://schemas.microsoft.com/office/drawing/2014/main" id="{D65025F0-74E5-3F61-F0D4-B435647CE96A}"/>
              </a:ext>
            </a:extLst>
          </p:cNvPr>
          <p:cNvPicPr>
            <a:picLocks noChangeAspect="1"/>
          </p:cNvPicPr>
          <p:nvPr/>
        </p:nvPicPr>
        <p:blipFill>
          <a:blip r:embed="rId3"/>
          <a:srcRect l="17373" t="15085" r="22526" b="5443"/>
          <a:stretch>
            <a:fillRect/>
          </a:stretch>
        </p:blipFill>
        <p:spPr>
          <a:xfrm>
            <a:off x="4990639" y="1985575"/>
            <a:ext cx="6191068" cy="4375521"/>
          </a:xfrm>
          <a:prstGeom prst="rect">
            <a:avLst/>
          </a:prstGeom>
          <a:ln w="57150">
            <a:solidFill>
              <a:srgbClr val="002060"/>
            </a:solidFill>
          </a:ln>
        </p:spPr>
      </p:pic>
      <p:pic>
        <p:nvPicPr>
          <p:cNvPr id="11" name="Image 10" descr="Une image contenant Police, typographie, logo, Graphique&#10;&#10;Le contenu généré par l’IA peut être incorrect.">
            <a:extLst>
              <a:ext uri="{FF2B5EF4-FFF2-40B4-BE49-F238E27FC236}">
                <a16:creationId xmlns:a16="http://schemas.microsoft.com/office/drawing/2014/main" id="{0B6E63C8-F104-81C0-538D-1C56AD8AC19A}"/>
              </a:ext>
            </a:extLst>
          </p:cNvPr>
          <p:cNvPicPr>
            <a:picLocks noChangeAspect="1"/>
          </p:cNvPicPr>
          <p:nvPr/>
        </p:nvPicPr>
        <p:blipFill>
          <a:blip r:embed="rId4"/>
          <a:srcRect r="19029" b="-93"/>
          <a:stretch>
            <a:fillRect/>
          </a:stretch>
        </p:blipFill>
        <p:spPr>
          <a:xfrm>
            <a:off x="838610" y="3427156"/>
            <a:ext cx="2200514" cy="757026"/>
          </a:xfrm>
          <a:prstGeom prst="rect">
            <a:avLst/>
          </a:prstGeom>
        </p:spPr>
      </p:pic>
      <p:sp>
        <p:nvSpPr>
          <p:cNvPr id="12" name="Flèche : droite 11">
            <a:extLst>
              <a:ext uri="{FF2B5EF4-FFF2-40B4-BE49-F238E27FC236}">
                <a16:creationId xmlns:a16="http://schemas.microsoft.com/office/drawing/2014/main" id="{7E4EA08A-0C24-6A70-FDB8-13D714AF1F63}"/>
              </a:ext>
            </a:extLst>
          </p:cNvPr>
          <p:cNvSpPr/>
          <p:nvPr/>
        </p:nvSpPr>
        <p:spPr>
          <a:xfrm>
            <a:off x="3424903" y="3564193"/>
            <a:ext cx="1278193" cy="62270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975936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AF2E4-C244-5662-CE37-B9FDEE5A8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8BD274-DE07-6073-642F-08A721566A06}"/>
              </a:ext>
            </a:extLst>
          </p:cNvPr>
          <p:cNvSpPr>
            <a:spLocks noGrp="1"/>
          </p:cNvSpPr>
          <p:nvPr>
            <p:ph type="title"/>
          </p:nvPr>
        </p:nvSpPr>
        <p:spPr/>
        <p:txBody>
          <a:bodyPr/>
          <a:lstStyle/>
          <a:p>
            <a:r>
              <a:rPr lang="en-GB"/>
              <a:t>Live Demo &amp; Data Analysis</a:t>
            </a:r>
            <a:endParaRPr lang="fr-FR"/>
          </a:p>
        </p:txBody>
      </p:sp>
      <p:sp>
        <p:nvSpPr>
          <p:cNvPr id="3" name="Content Placeholder 2">
            <a:extLst>
              <a:ext uri="{FF2B5EF4-FFF2-40B4-BE49-F238E27FC236}">
                <a16:creationId xmlns:a16="http://schemas.microsoft.com/office/drawing/2014/main" id="{CC0B93F3-3ED4-D5A5-0603-18DE64321118}"/>
              </a:ext>
            </a:extLst>
          </p:cNvPr>
          <p:cNvSpPr>
            <a:spLocks noGrp="1"/>
          </p:cNvSpPr>
          <p:nvPr>
            <p:ph idx="1"/>
          </p:nvPr>
        </p:nvSpPr>
        <p:spPr>
          <a:xfrm>
            <a:off x="838200" y="1859491"/>
            <a:ext cx="10515600" cy="4633383"/>
          </a:xfrm>
        </p:spPr>
        <p:txBody>
          <a:bodyPr>
            <a:normAutofit/>
          </a:bodyPr>
          <a:lstStyle/>
          <a:p>
            <a:pPr marL="0" indent="0">
              <a:buNone/>
            </a:pPr>
            <a:endParaRPr lang="en-BE">
              <a:latin typeface="Century Gothic" panose="020B0502020202020204" pitchFamily="34" charset="0"/>
            </a:endParaRPr>
          </a:p>
          <a:p>
            <a:pPr marL="0" indent="0">
              <a:buNone/>
            </a:pPr>
            <a:endParaRPr lang="en-BE">
              <a:latin typeface="Century Gothic" panose="020B0502020202020204" pitchFamily="34" charset="0"/>
            </a:endParaRPr>
          </a:p>
          <a:p>
            <a:pPr marL="0" indent="0">
              <a:buNone/>
            </a:pPr>
            <a:endParaRPr lang="en-BE">
              <a:latin typeface="Century Gothic" panose="020B0502020202020204" pitchFamily="34" charset="0"/>
            </a:endParaRPr>
          </a:p>
        </p:txBody>
      </p:sp>
      <p:pic>
        <p:nvPicPr>
          <p:cNvPr id="4" name="Picture 3">
            <a:extLst>
              <a:ext uri="{FF2B5EF4-FFF2-40B4-BE49-F238E27FC236}">
                <a16:creationId xmlns:a16="http://schemas.microsoft.com/office/drawing/2014/main" id="{BB5EE102-6111-F852-2050-49FF9D09FA67}"/>
              </a:ext>
            </a:extLst>
          </p:cNvPr>
          <p:cNvPicPr>
            <a:picLocks noChangeAspect="1"/>
          </p:cNvPicPr>
          <p:nvPr/>
        </p:nvPicPr>
        <p:blipFill>
          <a:blip r:embed="rId2"/>
          <a:stretch>
            <a:fillRect/>
          </a:stretch>
        </p:blipFill>
        <p:spPr>
          <a:xfrm>
            <a:off x="9042400" y="0"/>
            <a:ext cx="3149600" cy="635000"/>
          </a:xfrm>
          <a:prstGeom prst="rect">
            <a:avLst/>
          </a:prstGeom>
        </p:spPr>
      </p:pic>
      <p:pic>
        <p:nvPicPr>
          <p:cNvPr id="6" name="Image 5" descr="Une image contenant texte, carte de visite, capture d’écran, logo&#10;&#10;Le contenu généré par l’IA peut être incorrect.">
            <a:extLst>
              <a:ext uri="{FF2B5EF4-FFF2-40B4-BE49-F238E27FC236}">
                <a16:creationId xmlns:a16="http://schemas.microsoft.com/office/drawing/2014/main" id="{F1204EDE-B662-1DFA-CC8A-4E1B5B814671}"/>
              </a:ext>
            </a:extLst>
          </p:cNvPr>
          <p:cNvPicPr>
            <a:picLocks noChangeAspect="1"/>
          </p:cNvPicPr>
          <p:nvPr/>
        </p:nvPicPr>
        <p:blipFill>
          <a:blip r:embed="rId3"/>
          <a:srcRect l="19855" t="29832" r="20108" b="30645"/>
          <a:stretch>
            <a:fillRect/>
          </a:stretch>
        </p:blipFill>
        <p:spPr>
          <a:xfrm>
            <a:off x="3918897" y="1681214"/>
            <a:ext cx="2878213" cy="1199344"/>
          </a:xfrm>
          <a:prstGeom prst="rect">
            <a:avLst/>
          </a:prstGeom>
        </p:spPr>
      </p:pic>
      <p:pic>
        <p:nvPicPr>
          <p:cNvPr id="8" name="Image 7" descr="Une image contenant texte, carte, diagramme, atlas&#10;&#10;Le contenu généré par l’IA peut être incorrect.">
            <a:extLst>
              <a:ext uri="{FF2B5EF4-FFF2-40B4-BE49-F238E27FC236}">
                <a16:creationId xmlns:a16="http://schemas.microsoft.com/office/drawing/2014/main" id="{26E9B9B8-FADE-6730-1E4B-4C664F6B1B12}"/>
              </a:ext>
            </a:extLst>
          </p:cNvPr>
          <p:cNvPicPr>
            <a:picLocks noChangeAspect="1"/>
          </p:cNvPicPr>
          <p:nvPr/>
        </p:nvPicPr>
        <p:blipFill>
          <a:blip r:embed="rId4"/>
          <a:stretch>
            <a:fillRect/>
          </a:stretch>
        </p:blipFill>
        <p:spPr>
          <a:xfrm>
            <a:off x="155678" y="3425796"/>
            <a:ext cx="5202903" cy="2579178"/>
          </a:xfrm>
          <a:prstGeom prst="rect">
            <a:avLst/>
          </a:prstGeom>
        </p:spPr>
      </p:pic>
      <p:pic>
        <p:nvPicPr>
          <p:cNvPr id="9" name="Image 8" descr="Une image contenant texte, carte, atlas&#10;&#10;Le contenu généré par l’IA peut être incorrect.">
            <a:extLst>
              <a:ext uri="{FF2B5EF4-FFF2-40B4-BE49-F238E27FC236}">
                <a16:creationId xmlns:a16="http://schemas.microsoft.com/office/drawing/2014/main" id="{1A471C0E-1DC1-5E9E-FBBA-496F18E69F3C}"/>
              </a:ext>
            </a:extLst>
          </p:cNvPr>
          <p:cNvPicPr>
            <a:picLocks noChangeAspect="1"/>
          </p:cNvPicPr>
          <p:nvPr/>
        </p:nvPicPr>
        <p:blipFill>
          <a:blip r:embed="rId5"/>
          <a:stretch>
            <a:fillRect/>
          </a:stretch>
        </p:blipFill>
        <p:spPr>
          <a:xfrm>
            <a:off x="6030451" y="3544508"/>
            <a:ext cx="6161550" cy="2776019"/>
          </a:xfrm>
          <a:prstGeom prst="rect">
            <a:avLst/>
          </a:prstGeom>
        </p:spPr>
      </p:pic>
    </p:spTree>
    <p:extLst>
      <p:ext uri="{BB962C8B-B14F-4D97-AF65-F5344CB8AC3E}">
        <p14:creationId xmlns:p14="http://schemas.microsoft.com/office/powerpoint/2010/main" val="24444053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Grand écran</PresentationFormat>
  <Slides>15</Slides>
  <Notes>6</Notes>
  <HiddenSlides>0</HiddenSlides>
  <ScaleCrop>false</ScaleCrop>
  <HeadingPairs>
    <vt:vector size="4" baseType="variant">
      <vt:variant>
        <vt:lpstr>Thème</vt:lpstr>
      </vt:variant>
      <vt:variant>
        <vt:i4>1</vt:i4>
      </vt:variant>
      <vt:variant>
        <vt:lpstr>Titres des diapositives</vt:lpstr>
      </vt:variant>
      <vt:variant>
        <vt:i4>15</vt:i4>
      </vt:variant>
    </vt:vector>
  </HeadingPairs>
  <TitlesOfParts>
    <vt:vector size="16" baseType="lpstr">
      <vt:lpstr>Office Theme</vt:lpstr>
      <vt:lpstr>INFO-H509 Geo-Spatial and web technologies </vt:lpstr>
      <vt:lpstr>Présentation PowerPoint</vt:lpstr>
      <vt:lpstr>Présentation PowerPoint</vt:lpstr>
      <vt:lpstr>Présentation PowerPoint</vt:lpstr>
      <vt:lpstr>Présentation PowerPoint</vt:lpstr>
      <vt:lpstr>Présentation PowerPoint</vt:lpstr>
      <vt:lpstr>Data source</vt:lpstr>
      <vt:lpstr>Présentation PowerPoint</vt:lpstr>
      <vt:lpstr>Data Cleaning</vt:lpstr>
      <vt:lpstr>Cleaned Data</vt:lpstr>
      <vt:lpstr>Data points used in analysis (the local version) and analysis</vt:lpstr>
      <vt:lpstr>Présentation PowerPoint</vt:lpstr>
      <vt:lpstr>Tool Selection: Why Streamlit?   </vt:lpstr>
      <vt:lpstr>Technical Implementation &amp; Data Flow </vt:lpstr>
      <vt:lpstr>Live Demo &amp; Data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SHAROF Imad</dc:creator>
  <cp:revision>7</cp:revision>
  <dcterms:created xsi:type="dcterms:W3CDTF">2026-05-14T12:53:50Z</dcterms:created>
  <dcterms:modified xsi:type="dcterms:W3CDTF">2026-05-18T19:04:49Z</dcterms:modified>
</cp:coreProperties>
</file>